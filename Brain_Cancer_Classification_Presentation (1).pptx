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7" r:id="rId13"/>
    <p:sldId id="265" r:id="rId14"/>
    <p:sldId id="26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761"/>
        </a:solidFill>
        <a:effectLst/>
      </p:bgPr>
    </p:bg>
    <p:spTree>
      <p:nvGrpSpPr>
        <p:cNvPr id="1" name=""/>
        <p:cNvGrpSpPr/>
        <p:nvPr/>
      </p:nvGrpSpPr>
      <p:grpSpPr>
        <a:xfrm>
          <a:off x="0" y="0"/>
          <a:ext cx="0" cy="0"/>
          <a:chOff x="0" y="0"/>
          <a:chExt cx="0" cy="0"/>
        </a:xfrm>
      </p:grpSpPr>
      <p:sp>
        <p:nvSpPr>
          <p:cNvPr id="2" name="Shape 0"/>
          <p:cNvSpPr/>
          <p:nvPr/>
        </p:nvSpPr>
        <p:spPr>
          <a:xfrm>
            <a:off x="9418320" y="-1371600"/>
            <a:ext cx="4114800" cy="4114800"/>
          </a:xfrm>
          <a:prstGeom prst="ellipse">
            <a:avLst/>
          </a:prstGeom>
          <a:solidFill>
            <a:srgbClr val="4A3174"/>
          </a:solidFill>
        </p:spPr>
      </p:sp>
      <p:sp>
        <p:nvSpPr>
          <p:cNvPr id="3" name="Shape 1"/>
          <p:cNvSpPr/>
          <p:nvPr/>
        </p:nvSpPr>
        <p:spPr>
          <a:xfrm>
            <a:off x="10607040" y="4297680"/>
            <a:ext cx="2743200" cy="2743200"/>
          </a:xfrm>
          <a:prstGeom prst="ellipse">
            <a:avLst/>
          </a:prstGeom>
          <a:solidFill>
            <a:srgbClr val="452D6E"/>
          </a:solidFill>
        </p:spPr>
      </p:sp>
      <p:pic>
        <p:nvPicPr>
          <p:cNvPr id="4" name="Image 0" descr="preencoded.png"/>
          <p:cNvPicPr>
            <a:picLocks noChangeAspect="1"/>
          </p:cNvPicPr>
          <p:nvPr/>
        </p:nvPicPr>
        <p:blipFill>
          <a:blip r:embed="rId1"/>
          <a:stretch>
            <a:fillRect/>
          </a:stretch>
        </p:blipFill>
        <p:spPr>
          <a:xfrm>
            <a:off x="640080" y="594360"/>
            <a:ext cx="502920" cy="502920"/>
          </a:xfrm>
          <a:prstGeom prst="rect">
            <a:avLst/>
          </a:prstGeom>
        </p:spPr>
      </p:pic>
      <p:sp>
        <p:nvSpPr>
          <p:cNvPr id="5" name="Text 2"/>
          <p:cNvSpPr/>
          <p:nvPr/>
        </p:nvSpPr>
        <p:spPr>
          <a:xfrm>
            <a:off x="640080" y="1234440"/>
            <a:ext cx="7315200" cy="365760"/>
          </a:xfrm>
          <a:prstGeom prst="rect">
            <a:avLst/>
          </a:prstGeom>
          <a:noFill/>
        </p:spPr>
        <p:txBody>
          <a:bodyPr wrap="square" rtlCol="0" anchor="ctr"/>
          <a:lstStyle/>
          <a:p>
            <a:pPr marL="0" indent="0">
              <a:buNone/>
            </a:pPr>
            <a:r>
              <a:rPr lang="en-US" sz="1300" b="1" kern="0" spc="150" dirty="0">
                <a:solidFill>
                  <a:srgbClr val="D98E2A"/>
                </a:solidFill>
                <a:latin typeface="Calibri" panose="020F0502020204030204" pitchFamily="34" charset="0"/>
                <a:ea typeface="Calibri" panose="020F0502020204030204" pitchFamily="34" charset="-122"/>
                <a:cs typeface="Calibri" panose="020F0502020204030204" pitchFamily="34" charset="-120"/>
              </a:rPr>
              <a:t>MACHINE LEARNING  ·  BIOINFORMATICS</a:t>
            </a:r>
            <a:endParaRPr lang="en-US" sz="1300" dirty="0"/>
          </a:p>
        </p:txBody>
      </p:sp>
      <p:sp>
        <p:nvSpPr>
          <p:cNvPr id="6" name="Text 3"/>
          <p:cNvSpPr/>
          <p:nvPr/>
        </p:nvSpPr>
        <p:spPr>
          <a:xfrm>
            <a:off x="640080" y="1645920"/>
            <a:ext cx="9601200" cy="1645920"/>
          </a:xfrm>
          <a:prstGeom prst="rect">
            <a:avLst/>
          </a:prstGeom>
          <a:noFill/>
        </p:spPr>
        <p:txBody>
          <a:bodyPr wrap="square" rtlCol="0" anchor="ctr"/>
          <a:lstStyle/>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Brain Cancer Classification</a:t>
            </a:r>
            <a:endParaRPr lang="en-US" sz="4000" dirty="0"/>
          </a:p>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Gene Expression Data</a:t>
            </a:r>
            <a:endParaRPr lang="en-US" sz="4000" dirty="0"/>
          </a:p>
        </p:txBody>
      </p:sp>
      <p:sp>
        <p:nvSpPr>
          <p:cNvPr id="7" name="Text 4"/>
          <p:cNvSpPr/>
          <p:nvPr/>
        </p:nvSpPr>
        <p:spPr>
          <a:xfrm>
            <a:off x="640080" y="3337560"/>
            <a:ext cx="8229600" cy="457200"/>
          </a:xfrm>
          <a:prstGeom prst="rect">
            <a:avLst/>
          </a:prstGeom>
          <a:noFill/>
        </p:spPr>
        <p:txBody>
          <a:bodyPr wrap="square" rtlCol="0" anchor="ctr"/>
          <a:lstStyle/>
          <a:p>
            <a:pPr marL="0" indent="0">
              <a:buNone/>
            </a:pPr>
            <a:r>
              <a:rPr lang="en-US" sz="1450" i="1" dirty="0">
                <a:solidFill>
                  <a:srgbClr val="C9BEE0"/>
                </a:solidFill>
                <a:latin typeface="Calibri" panose="020F0502020204030204" pitchFamily="34" charset="0"/>
                <a:ea typeface="Calibri" panose="020F0502020204030204" pitchFamily="34" charset="-122"/>
                <a:cs typeface="Calibri" panose="020F0502020204030204" pitchFamily="34" charset="-120"/>
              </a:rPr>
              <a:t>Classifying tumor types using PCA-reduced gene expression and a Random Forest classifier</a:t>
            </a:r>
            <a:endParaRPr lang="en-US" sz="1450" dirty="0"/>
          </a:p>
        </p:txBody>
      </p:sp>
      <p:sp>
        <p:nvSpPr>
          <p:cNvPr id="8" name="Text 5"/>
          <p:cNvSpPr/>
          <p:nvPr/>
        </p:nvSpPr>
        <p:spPr>
          <a:xfrm>
            <a:off x="640080" y="4206240"/>
            <a:ext cx="7772400" cy="365760"/>
          </a:xfrm>
          <a:prstGeom prst="rect">
            <a:avLst/>
          </a:prstGeom>
          <a:noFill/>
        </p:spPr>
        <p:txBody>
          <a:bodyPr wrap="square" rtlCol="0" anchor="ctr"/>
          <a:lstStyle/>
          <a:p>
            <a:pPr marL="0" indent="0">
              <a:buNone/>
            </a:pPr>
            <a:r>
              <a:rPr lang="en-US" sz="1200" i="1" dirty="0">
                <a:solidFill>
                  <a:srgbClr val="B8ADD1"/>
                </a:solidFill>
                <a:latin typeface="Calibri" panose="020F0502020204030204" pitchFamily="34" charset="0"/>
                <a:ea typeface="Calibri" panose="020F0502020204030204" pitchFamily="34" charset="-122"/>
                <a:cs typeface="Calibri" panose="020F0502020204030204" pitchFamily="34" charset="-120"/>
              </a:rPr>
              <a:t>Dedicated to my grandmother, whose battle with brain cancer inspired this project.</a:t>
            </a:r>
            <a:endParaRPr lang="en-US" sz="1200" dirty="0"/>
          </a:p>
        </p:txBody>
      </p:sp>
      <p:sp>
        <p:nvSpPr>
          <p:cNvPr id="9" name="Text 6"/>
          <p:cNvSpPr/>
          <p:nvPr/>
        </p:nvSpPr>
        <p:spPr>
          <a:xfrm>
            <a:off x="640080" y="6126480"/>
            <a:ext cx="8229600" cy="320040"/>
          </a:xfrm>
          <a:prstGeom prst="rect">
            <a:avLst/>
          </a:prstGeom>
          <a:noFill/>
        </p:spPr>
        <p:txBody>
          <a:bodyPr wrap="square" rtlCol="0" anchor="ctr"/>
          <a:lstStyle/>
          <a:p>
            <a:pPr marL="0" indent="0">
              <a:buNone/>
            </a:pPr>
            <a:r>
              <a:rPr lang="en-US" sz="1100" dirty="0">
                <a:solidFill>
                  <a:srgbClr val="9B8FB8"/>
                </a:solidFill>
                <a:latin typeface="Calibri" panose="020F0502020204030204" pitchFamily="34" charset="0"/>
                <a:ea typeface="Calibri" panose="020F0502020204030204" pitchFamily="34" charset="-122"/>
                <a:cs typeface="Calibri" panose="020F0502020204030204" pitchFamily="34" charset="-120"/>
              </a:rPr>
              <a:t>Dataset: GSE50161 (CuMiDa)  ·  130 patients  ·  54,675 genes  ·  5 tumor classes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p:spPr>
        <p:txBody>
          <a:bodyPr wrap="square" rtlCol="0" anchor="ctr"/>
          <a:lstStyle/>
          <a:p>
            <a:pPr marL="0" indent="0">
              <a:buNone/>
            </a:pPr>
            <a:r>
              <a:rPr lang="en-US" sz="3000" b="1" dirty="0">
                <a:solidFill>
                  <a:srgbClr val="23222B"/>
                </a:solidFill>
                <a:latin typeface="Cambria" panose="02040503050406030204" pitchFamily="34" charset="0"/>
                <a:ea typeface="Cambria" panose="02040503050406030204" pitchFamily="34" charset="-122"/>
                <a:cs typeface="Cambria" panose="02040503050406030204" pitchFamily="34" charset="-120"/>
              </a:rPr>
              <a:t>Why This Project</a:t>
            </a:r>
            <a:endParaRPr lang="en-US" sz="3000" dirty="0"/>
          </a:p>
        </p:txBody>
      </p:sp>
      <p:sp>
        <p:nvSpPr>
          <p:cNvPr id="3" name="Shape 1"/>
          <p:cNvSpPr/>
          <p:nvPr/>
        </p:nvSpPr>
        <p:spPr>
          <a:xfrm>
            <a:off x="640080" y="1325880"/>
            <a:ext cx="5120640" cy="5074920"/>
          </a:xfrm>
          <a:prstGeom prst="roundRect">
            <a:avLst>
              <a:gd name="adj" fmla="val 1441"/>
            </a:avLst>
          </a:prstGeom>
          <a:solidFill>
            <a:srgbClr val="F6E3E6"/>
          </a:solidFill>
        </p:spPr>
      </p:sp>
      <p:pic>
        <p:nvPicPr>
          <p:cNvPr id="4" name="Image 0" descr="preencoded.png"/>
          <p:cNvPicPr>
            <a:picLocks noChangeAspect="1"/>
          </p:cNvPicPr>
          <p:nvPr/>
        </p:nvPicPr>
        <p:blipFill>
          <a:blip r:embed="rId1"/>
          <a:stretch>
            <a:fillRect/>
          </a:stretch>
        </p:blipFill>
        <p:spPr>
          <a:xfrm>
            <a:off x="914400" y="1600200"/>
            <a:ext cx="411480" cy="411480"/>
          </a:xfrm>
          <a:prstGeom prst="rect">
            <a:avLst/>
          </a:prstGeom>
        </p:spPr>
      </p:pic>
      <p:sp>
        <p:nvSpPr>
          <p:cNvPr id="5" name="Text 2"/>
          <p:cNvSpPr/>
          <p:nvPr/>
        </p:nvSpPr>
        <p:spPr>
          <a:xfrm>
            <a:off x="1463040" y="1673352"/>
            <a:ext cx="4023360" cy="292608"/>
          </a:xfrm>
          <a:prstGeom prst="rect">
            <a:avLst/>
          </a:prstGeom>
          <a:noFill/>
        </p:spPr>
        <p:txBody>
          <a:bodyPr wrap="square" rtlCol="0" anchor="ctr"/>
          <a:lstStyle/>
          <a:p>
            <a:pPr marL="0" indent="0">
              <a:buNone/>
            </a:pPr>
            <a:r>
              <a:rPr lang="en-US" sz="1200" b="1" kern="0" spc="100" dirty="0">
                <a:solidFill>
                  <a:srgbClr val="B5495B"/>
                </a:solidFill>
                <a:latin typeface="Calibri" panose="020F0502020204030204" pitchFamily="34" charset="0"/>
                <a:ea typeface="Calibri" panose="020F0502020204030204" pitchFamily="34" charset="-122"/>
                <a:cs typeface="Calibri" panose="020F0502020204030204" pitchFamily="34" charset="-120"/>
              </a:rPr>
              <a:t>A PERSONAL REASON</a:t>
            </a:r>
            <a:endParaRPr lang="en-US" sz="1200" dirty="0"/>
          </a:p>
        </p:txBody>
      </p:sp>
      <p:sp>
        <p:nvSpPr>
          <p:cNvPr id="6" name="Text 3"/>
          <p:cNvSpPr/>
          <p:nvPr/>
        </p:nvSpPr>
        <p:spPr>
          <a:xfrm>
            <a:off x="914400" y="2148840"/>
            <a:ext cx="4526280" cy="1325880"/>
          </a:xfrm>
          <a:prstGeom prst="rect">
            <a:avLst/>
          </a:prstGeom>
          <a:noFill/>
        </p:spPr>
        <p:txBody>
          <a:bodyPr wrap="square" rtlCol="0" anchor="ctr"/>
          <a:lstStyle/>
          <a:p>
            <a:pPr marL="0" indent="0">
              <a:lnSpc>
                <a:spcPct val="130000"/>
              </a:lnSpc>
              <a:buNone/>
            </a:pPr>
            <a:r>
              <a:rPr lang="en-US" sz="1250" dirty="0">
                <a:solidFill>
                  <a:srgbClr val="23222B"/>
                </a:solidFill>
                <a:latin typeface="Calibri" panose="020F0502020204030204" pitchFamily="34" charset="0"/>
                <a:ea typeface="Calibri" panose="020F0502020204030204" pitchFamily="34" charset="-122"/>
                <a:cs typeface="Calibri" panose="020F0502020204030204" pitchFamily="34" charset="-120"/>
              </a:rPr>
              <a:t>My grandmother passed away after a battle with brain cancer. Before she died, the tumor took her eyesight — one of the cruelest ways the disease can progress, as growing tumors can press on the optic nerve or visual pathways in the brain.</a:t>
            </a:r>
            <a:endParaRPr lang="en-US" sz="1250" dirty="0"/>
          </a:p>
        </p:txBody>
      </p:sp>
      <p:sp>
        <p:nvSpPr>
          <p:cNvPr id="7" name="Text 4"/>
          <p:cNvSpPr/>
          <p:nvPr/>
        </p:nvSpPr>
        <p:spPr>
          <a:xfrm>
            <a:off x="914400" y="3566160"/>
            <a:ext cx="4526280" cy="1143000"/>
          </a:xfrm>
          <a:prstGeom prst="rect">
            <a:avLst/>
          </a:prstGeom>
          <a:noFill/>
        </p:spPr>
        <p:txBody>
          <a:bodyPr wrap="square" rtlCol="0" anchor="ctr"/>
          <a:lstStyle/>
          <a:p>
            <a:pPr marL="0" indent="0">
              <a:lnSpc>
                <a:spcPct val="130000"/>
              </a:lnSpc>
              <a:buNone/>
            </a:pPr>
            <a:r>
              <a:rPr lang="en-US" sz="1250" dirty="0">
                <a:solidFill>
                  <a:srgbClr val="23222B"/>
                </a:solidFill>
                <a:latin typeface="Calibri" panose="020F0502020204030204" pitchFamily="34" charset="0"/>
                <a:ea typeface="Calibri" panose="020F0502020204030204" pitchFamily="34" charset="-122"/>
                <a:cs typeface="Calibri" panose="020F0502020204030204" pitchFamily="34" charset="-120"/>
              </a:rPr>
              <a:t>I never got a clear answer about exactly which type of brain tumor she had. That uncertainty is part of why this project matters to me — faster, clearer diagnosis shouldn't be out of reach.</a:t>
            </a:r>
            <a:endParaRPr lang="en-US" sz="1250" dirty="0"/>
          </a:p>
        </p:txBody>
      </p:sp>
      <p:sp>
        <p:nvSpPr>
          <p:cNvPr id="8" name="Text 5"/>
          <p:cNvSpPr/>
          <p:nvPr/>
        </p:nvSpPr>
        <p:spPr>
          <a:xfrm>
            <a:off x="914400" y="4846320"/>
            <a:ext cx="4526280" cy="1188720"/>
          </a:xfrm>
          <a:prstGeom prst="rect">
            <a:avLst/>
          </a:prstGeom>
          <a:noFill/>
        </p:spPr>
        <p:txBody>
          <a:bodyPr wrap="square" rtlCol="0" anchor="ctr"/>
          <a:lstStyle/>
          <a:p>
            <a:pPr marL="0" indent="0">
              <a:lnSpc>
                <a:spcPct val="130000"/>
              </a:lnSpc>
              <a:buNone/>
            </a:pPr>
            <a:r>
              <a:rPr lang="en-US" sz="1250" i="1" dirty="0">
                <a:solidFill>
                  <a:srgbClr val="B5495B"/>
                </a:solidFill>
                <a:latin typeface="Calibri" panose="020F0502020204030204" pitchFamily="34" charset="0"/>
                <a:ea typeface="Calibri" panose="020F0502020204030204" pitchFamily="34" charset="-122"/>
                <a:cs typeface="Calibri" panose="020F0502020204030204" pitchFamily="34" charset="-120"/>
              </a:rPr>
              <a:t>This project is my attempt to understand, in a small way, how data science could support earlier and more confident diagnosis for families like mine.</a:t>
            </a:r>
            <a:endParaRPr lang="en-US" sz="1250" dirty="0"/>
          </a:p>
        </p:txBody>
      </p:sp>
      <p:sp>
        <p:nvSpPr>
          <p:cNvPr id="9" name="Shape 6"/>
          <p:cNvSpPr/>
          <p:nvPr/>
        </p:nvSpPr>
        <p:spPr>
          <a:xfrm>
            <a:off x="5989320" y="1325880"/>
            <a:ext cx="5577840" cy="5074920"/>
          </a:xfrm>
          <a:prstGeom prst="roundRect">
            <a:avLst>
              <a:gd name="adj" fmla="val 1441"/>
            </a:avLst>
          </a:prstGeom>
          <a:solidFill>
            <a:srgbClr val="3D2761"/>
          </a:solidFill>
        </p:spPr>
      </p:sp>
      <p:sp>
        <p:nvSpPr>
          <p:cNvPr id="10" name="Text 7"/>
          <p:cNvSpPr/>
          <p:nvPr/>
        </p:nvSpPr>
        <p:spPr>
          <a:xfrm>
            <a:off x="6263640" y="1600200"/>
            <a:ext cx="5029200" cy="292608"/>
          </a:xfrm>
          <a:prstGeom prst="rect">
            <a:avLst/>
          </a:prstGeom>
          <a:noFill/>
        </p:spPr>
        <p:txBody>
          <a:bodyPr wrap="square" rtlCol="0" anchor="ctr"/>
          <a:lstStyle/>
          <a:p>
            <a:pPr marL="0" indent="0">
              <a:buNone/>
            </a:pPr>
            <a:r>
              <a:rPr lang="en-US" sz="1200" b="1" kern="0" spc="80" dirty="0">
                <a:solidFill>
                  <a:srgbClr val="D98E2A"/>
                </a:solidFill>
                <a:latin typeface="Calibri" panose="020F0502020204030204" pitchFamily="34" charset="0"/>
                <a:ea typeface="Calibri" panose="020F0502020204030204" pitchFamily="34" charset="-122"/>
                <a:cs typeface="Calibri" panose="020F0502020204030204" pitchFamily="34" charset="-120"/>
              </a:rPr>
              <a:t>WHAT THE RESEARCH ACTUALLY SHOWS</a:t>
            </a:r>
            <a:endParaRPr lang="en-US" sz="1200" dirty="0"/>
          </a:p>
        </p:txBody>
      </p:sp>
      <p:sp>
        <p:nvSpPr>
          <p:cNvPr id="11" name="Text 8"/>
          <p:cNvSpPr/>
          <p:nvPr/>
        </p:nvSpPr>
        <p:spPr>
          <a:xfrm>
            <a:off x="6263640" y="1965960"/>
            <a:ext cx="5029200" cy="868680"/>
          </a:xfrm>
          <a:prstGeom prst="rect">
            <a:avLst/>
          </a:prstGeom>
          <a:noFill/>
        </p:spPr>
        <p:txBody>
          <a:bodyPr wrap="square" rtlCol="0" anchor="ctr"/>
          <a:lstStyle/>
          <a:p>
            <a:pPr marL="0" indent="0">
              <a:lnSpc>
                <a:spcPct val="122000"/>
              </a:lnSpc>
              <a:buNone/>
            </a:pPr>
            <a:r>
              <a:rPr lang="en-US" sz="1150" dirty="0">
                <a:solidFill>
                  <a:srgbClr val="DCD3EE"/>
                </a:solidFill>
                <a:latin typeface="Calibri" panose="020F0502020204030204" pitchFamily="34" charset="0"/>
                <a:ea typeface="Calibri" panose="020F0502020204030204" pitchFamily="34" charset="-122"/>
                <a:cs typeface="Calibri" panose="020F0502020204030204" pitchFamily="34" charset="-120"/>
              </a:rPr>
              <a:t>Brain tumors are different from cancers like breast or colon cancer, where “caught early vs. caught late” survival gaps are huge and well documented. For brain tumors, evidence is more nuanced — but still points the same direction:</a:t>
            </a:r>
            <a:endParaRPr lang="en-US" sz="1150" dirty="0"/>
          </a:p>
        </p:txBody>
      </p:sp>
      <p:sp>
        <p:nvSpPr>
          <p:cNvPr id="12" name="Shape 9"/>
          <p:cNvSpPr/>
          <p:nvPr/>
        </p:nvSpPr>
        <p:spPr>
          <a:xfrm>
            <a:off x="6428105" y="3124835"/>
            <a:ext cx="91440" cy="91440"/>
          </a:xfrm>
          <a:prstGeom prst="ellipse">
            <a:avLst/>
          </a:prstGeom>
          <a:solidFill>
            <a:srgbClr val="D98E2A"/>
          </a:solidFill>
        </p:spPr>
      </p:sp>
      <p:sp>
        <p:nvSpPr>
          <p:cNvPr id="13" name="Text 10"/>
          <p:cNvSpPr/>
          <p:nvPr/>
        </p:nvSpPr>
        <p:spPr>
          <a:xfrm>
            <a:off x="6519672" y="2834640"/>
            <a:ext cx="4846320" cy="713232"/>
          </a:xfrm>
          <a:prstGeom prst="rect">
            <a:avLst/>
          </a:prstGeom>
          <a:noFill/>
        </p:spPr>
        <p:txBody>
          <a:bodyPr wrap="square" rtlCol="0" anchor="ctr"/>
          <a:lstStyle/>
          <a:p>
            <a:pPr marL="0" indent="0">
              <a:lnSpc>
                <a:spcPct val="118000"/>
              </a:lnSpc>
              <a:buNone/>
            </a:pPr>
            <a:r>
              <a:rPr lang="en-US" sz="1030" dirty="0">
                <a:solidFill>
                  <a:srgbClr val="DCD3EE"/>
                </a:solidFill>
                <a:latin typeface="Calibri" panose="020F0502020204030204" pitchFamily="34" charset="0"/>
                <a:ea typeface="Calibri" panose="020F0502020204030204" pitchFamily="34" charset="-122"/>
                <a:cs typeface="Calibri" panose="020F0502020204030204" pitchFamily="34" charset="-120"/>
              </a:rPr>
              <a:t>~40% of brain cancers in the UK are diagnosed only after an emergency hospital visit — the tumor was missed for far too long (NHS England data).</a:t>
            </a:r>
            <a:endParaRPr lang="en-US" sz="1030" dirty="0"/>
          </a:p>
        </p:txBody>
      </p:sp>
      <p:sp>
        <p:nvSpPr>
          <p:cNvPr id="14" name="Shape 11"/>
          <p:cNvSpPr/>
          <p:nvPr/>
        </p:nvSpPr>
        <p:spPr>
          <a:xfrm>
            <a:off x="6428105" y="3916680"/>
            <a:ext cx="91440" cy="91440"/>
          </a:xfrm>
          <a:prstGeom prst="ellipse">
            <a:avLst/>
          </a:prstGeom>
          <a:solidFill>
            <a:srgbClr val="D98E2A"/>
          </a:solidFill>
        </p:spPr>
      </p:sp>
      <p:sp>
        <p:nvSpPr>
          <p:cNvPr id="15" name="Text 12"/>
          <p:cNvSpPr/>
          <p:nvPr/>
        </p:nvSpPr>
        <p:spPr>
          <a:xfrm>
            <a:off x="6519672" y="3566160"/>
            <a:ext cx="4846320" cy="713232"/>
          </a:xfrm>
          <a:prstGeom prst="rect">
            <a:avLst/>
          </a:prstGeom>
          <a:noFill/>
        </p:spPr>
        <p:txBody>
          <a:bodyPr wrap="square" rtlCol="0" anchor="ctr"/>
          <a:lstStyle/>
          <a:p>
            <a:pPr marL="0" indent="0">
              <a:lnSpc>
                <a:spcPct val="118000"/>
              </a:lnSpc>
              <a:buNone/>
            </a:pPr>
            <a:r>
              <a:rPr lang="en-US" sz="1030" dirty="0">
                <a:solidFill>
                  <a:srgbClr val="DCD3EE"/>
                </a:solidFill>
                <a:latin typeface="Calibri" panose="020F0502020204030204" pitchFamily="34" charset="0"/>
                <a:ea typeface="Calibri" panose="020F0502020204030204" pitchFamily="34" charset="-122"/>
                <a:cs typeface="Calibri" panose="020F0502020204030204" pitchFamily="34" charset="-120"/>
              </a:rPr>
              <a:t>A 2025 brain tumor diagnosis study linked shorter time-to-treatment with better outcomes, including survival.</a:t>
            </a:r>
            <a:endParaRPr lang="en-US" sz="1030" dirty="0"/>
          </a:p>
        </p:txBody>
      </p:sp>
      <p:sp>
        <p:nvSpPr>
          <p:cNvPr id="16" name="Shape 13"/>
          <p:cNvSpPr/>
          <p:nvPr/>
        </p:nvSpPr>
        <p:spPr>
          <a:xfrm>
            <a:off x="6428105" y="4629150"/>
            <a:ext cx="91440" cy="91440"/>
          </a:xfrm>
          <a:prstGeom prst="ellipse">
            <a:avLst/>
          </a:prstGeom>
          <a:solidFill>
            <a:srgbClr val="D98E2A"/>
          </a:solidFill>
        </p:spPr>
      </p:sp>
      <p:sp>
        <p:nvSpPr>
          <p:cNvPr id="17" name="Text 14"/>
          <p:cNvSpPr/>
          <p:nvPr/>
        </p:nvSpPr>
        <p:spPr>
          <a:xfrm>
            <a:off x="6519672" y="4297680"/>
            <a:ext cx="4846320" cy="713232"/>
          </a:xfrm>
          <a:prstGeom prst="rect">
            <a:avLst/>
          </a:prstGeom>
          <a:noFill/>
        </p:spPr>
        <p:txBody>
          <a:bodyPr wrap="square" rtlCol="0" anchor="ctr"/>
          <a:lstStyle/>
          <a:p>
            <a:pPr marL="0" indent="0">
              <a:lnSpc>
                <a:spcPct val="118000"/>
              </a:lnSpc>
              <a:buNone/>
            </a:pPr>
            <a:r>
              <a:rPr lang="en-US" sz="1030" dirty="0">
                <a:solidFill>
                  <a:srgbClr val="DCD3EE"/>
                </a:solidFill>
                <a:latin typeface="Calibri" panose="020F0502020204030204" pitchFamily="34" charset="0"/>
                <a:ea typeface="Calibri" panose="020F0502020204030204" pitchFamily="34" charset="-122"/>
                <a:cs typeface="Calibri" panose="020F0502020204030204" pitchFamily="34" charset="-120"/>
              </a:rPr>
              <a:t>A 2023 study found brain germ-cell tumor patients with delayed diagnosis (&gt;6 months) had far worse 10-year survival (63%) than those diagnosed early (100%).</a:t>
            </a:r>
            <a:endParaRPr lang="en-US" sz="1030" dirty="0"/>
          </a:p>
        </p:txBody>
      </p:sp>
      <p:sp>
        <p:nvSpPr>
          <p:cNvPr id="18" name="Shape 15"/>
          <p:cNvSpPr/>
          <p:nvPr/>
        </p:nvSpPr>
        <p:spPr>
          <a:xfrm>
            <a:off x="6428105" y="5374640"/>
            <a:ext cx="91440" cy="91440"/>
          </a:xfrm>
          <a:prstGeom prst="ellipse">
            <a:avLst/>
          </a:prstGeom>
          <a:solidFill>
            <a:srgbClr val="D98E2A"/>
          </a:solidFill>
        </p:spPr>
      </p:sp>
      <p:sp>
        <p:nvSpPr>
          <p:cNvPr id="19" name="Text 16"/>
          <p:cNvSpPr/>
          <p:nvPr/>
        </p:nvSpPr>
        <p:spPr>
          <a:xfrm>
            <a:off x="6519672" y="5029200"/>
            <a:ext cx="4846320" cy="713232"/>
          </a:xfrm>
          <a:prstGeom prst="rect">
            <a:avLst/>
          </a:prstGeom>
          <a:noFill/>
        </p:spPr>
        <p:txBody>
          <a:bodyPr wrap="square" rtlCol="0" anchor="ctr"/>
          <a:lstStyle/>
          <a:p>
            <a:pPr marL="0" indent="0">
              <a:lnSpc>
                <a:spcPct val="118000"/>
              </a:lnSpc>
              <a:buNone/>
            </a:pPr>
            <a:r>
              <a:rPr lang="en-US" sz="1030" dirty="0">
                <a:solidFill>
                  <a:srgbClr val="DCD3EE"/>
                </a:solidFill>
                <a:latin typeface="Calibri" panose="020F0502020204030204" pitchFamily="34" charset="0"/>
                <a:ea typeface="Calibri" panose="020F0502020204030204" pitchFamily="34" charset="-122"/>
                <a:cs typeface="Calibri" panose="020F0502020204030204" pitchFamily="34" charset="-120"/>
              </a:rPr>
              <a:t>For glioblastoma specifically, earlier surgery after relapse was linked to longer survival in a 2024 meta-analysis of 2,200+ patients.</a:t>
            </a:r>
            <a:endParaRPr lang="en-US" sz="1030" dirty="0"/>
          </a:p>
        </p:txBody>
      </p:sp>
      <p:sp>
        <p:nvSpPr>
          <p:cNvPr id="20" name="Text 17"/>
          <p:cNvSpPr/>
          <p:nvPr/>
        </p:nvSpPr>
        <p:spPr>
          <a:xfrm>
            <a:off x="6263640" y="6080760"/>
            <a:ext cx="5029200" cy="292608"/>
          </a:xfrm>
          <a:prstGeom prst="rect">
            <a:avLst/>
          </a:prstGeom>
          <a:noFill/>
        </p:spPr>
        <p:txBody>
          <a:bodyPr wrap="square" rtlCol="0" anchor="ctr"/>
          <a:lstStyle/>
          <a:p>
            <a:pPr marL="0" indent="0">
              <a:buNone/>
            </a:pPr>
            <a:r>
              <a:rPr lang="en-US" sz="1050" i="1" dirty="0">
                <a:solidFill>
                  <a:srgbClr val="D98E2A"/>
                </a:solidFill>
                <a:latin typeface="Calibri" panose="020F0502020204030204" pitchFamily="34" charset="0"/>
                <a:ea typeface="Calibri" panose="020F0502020204030204" pitchFamily="34" charset="-122"/>
                <a:cs typeface="Calibri" panose="020F0502020204030204" pitchFamily="34" charset="-120"/>
              </a:rPr>
              <a:t>This is exactly why faster, data-driven classification tools matter — they can help close that diagnostic delay.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p:spPr>
        <p:txBody>
          <a:bodyPr wrap="square" rtlCol="0" anchor="ctr"/>
          <a:lstStyle/>
          <a:p>
            <a:pPr marL="0" indent="0">
              <a:buNone/>
            </a:pPr>
            <a:r>
              <a:rPr lang="en-US" sz="3000" b="1" dirty="0">
                <a:solidFill>
                  <a:srgbClr val="23222B"/>
                </a:solidFill>
                <a:latin typeface="Cambria" panose="02040503050406030204" pitchFamily="34" charset="0"/>
                <a:ea typeface="Cambria" panose="02040503050406030204" pitchFamily="34" charset="-122"/>
                <a:cs typeface="Cambria" panose="02040503050406030204" pitchFamily="34" charset="-120"/>
              </a:rPr>
              <a:t>Project Roadmap</a:t>
            </a:r>
            <a:endParaRPr lang="en-US" sz="3000" dirty="0"/>
          </a:p>
        </p:txBody>
      </p:sp>
      <p:sp>
        <p:nvSpPr>
          <p:cNvPr id="3" name="Shape 1"/>
          <p:cNvSpPr/>
          <p:nvPr/>
        </p:nvSpPr>
        <p:spPr>
          <a:xfrm>
            <a:off x="640080" y="13716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sp>
      <p:sp>
        <p:nvSpPr>
          <p:cNvPr id="4" name="Shape 2"/>
          <p:cNvSpPr/>
          <p:nvPr/>
        </p:nvSpPr>
        <p:spPr>
          <a:xfrm>
            <a:off x="914400" y="1691640"/>
            <a:ext cx="731520" cy="731520"/>
          </a:xfrm>
          <a:prstGeom prst="ellipse">
            <a:avLst/>
          </a:prstGeom>
          <a:solidFill>
            <a:srgbClr val="EBE3F5"/>
          </a:solidFill>
        </p:spPr>
      </p:sp>
      <p:sp>
        <p:nvSpPr>
          <p:cNvPr id="5" name="Text 3"/>
          <p:cNvSpPr/>
          <p:nvPr/>
        </p:nvSpPr>
        <p:spPr>
          <a:xfrm>
            <a:off x="914400" y="1691640"/>
            <a:ext cx="731520" cy="731520"/>
          </a:xfrm>
          <a:prstGeom prst="rect">
            <a:avLst/>
          </a:prstGeom>
          <a:noFill/>
        </p:spPr>
        <p:txBody>
          <a:bodyPr wrap="square" rtlCol="0" anchor="ctr"/>
          <a:lstStyle/>
          <a:p>
            <a:pPr marL="0" indent="0" algn="ctr">
              <a:buNone/>
            </a:pPr>
            <a:r>
              <a:rPr lang="en-US" sz="2000" b="1" dirty="0">
                <a:solidFill>
                  <a:srgbClr val="5B3A8E"/>
                </a:solidFill>
                <a:latin typeface="Cambria" panose="02040503050406030204" pitchFamily="34" charset="0"/>
                <a:ea typeface="Cambria" panose="02040503050406030204" pitchFamily="34" charset="-122"/>
                <a:cs typeface="Cambria" panose="02040503050406030204" pitchFamily="34" charset="-120"/>
              </a:rPr>
              <a:t>01</a:t>
            </a:r>
            <a:endParaRPr lang="en-US" sz="2000" dirty="0"/>
          </a:p>
        </p:txBody>
      </p:sp>
      <p:sp>
        <p:nvSpPr>
          <p:cNvPr id="6" name="Text 4"/>
          <p:cNvSpPr/>
          <p:nvPr/>
        </p:nvSpPr>
        <p:spPr>
          <a:xfrm>
            <a:off x="1828800" y="1627632"/>
            <a:ext cx="3749040" cy="365760"/>
          </a:xfrm>
          <a:prstGeom prst="rect">
            <a:avLst/>
          </a:prstGeom>
          <a:noFill/>
        </p:spPr>
        <p:txBody>
          <a:bodyPr wrap="square" rtlCol="0" anchor="ctr"/>
          <a:lstStyle/>
          <a:p>
            <a:pPr marL="0" indent="0">
              <a:buNone/>
            </a:pPr>
            <a:r>
              <a:rPr lang="en-US" sz="1600" b="1" dirty="0">
                <a:solidFill>
                  <a:srgbClr val="23222B"/>
                </a:solidFill>
                <a:latin typeface="Calibri" panose="020F0502020204030204" pitchFamily="34" charset="0"/>
                <a:ea typeface="Calibri" panose="020F0502020204030204" pitchFamily="34" charset="-122"/>
                <a:cs typeface="Calibri" panose="020F0502020204030204" pitchFamily="34" charset="-120"/>
              </a:rPr>
              <a:t>The Problem</a:t>
            </a:r>
            <a:endParaRPr lang="en-US" sz="1600" dirty="0"/>
          </a:p>
        </p:txBody>
      </p:sp>
      <p:sp>
        <p:nvSpPr>
          <p:cNvPr id="7" name="Text 5"/>
          <p:cNvSpPr/>
          <p:nvPr/>
        </p:nvSpPr>
        <p:spPr>
          <a:xfrm>
            <a:off x="1828800" y="2029968"/>
            <a:ext cx="3749040" cy="502920"/>
          </a:xfrm>
          <a:prstGeom prst="rect">
            <a:avLst/>
          </a:prstGeom>
          <a:noFill/>
        </p:spPr>
        <p:txBody>
          <a:bodyPr wrap="square" rtlCol="0" anchor="ctr"/>
          <a:lstStyle/>
          <a:p>
            <a:pPr marL="0" indent="0">
              <a:buNone/>
            </a:pPr>
            <a:r>
              <a:rPr lang="en-US" sz="1150" dirty="0">
                <a:solidFill>
                  <a:srgbClr val="615F73"/>
                </a:solidFill>
                <a:latin typeface="Calibri" panose="020F0502020204030204" pitchFamily="34" charset="0"/>
                <a:ea typeface="Calibri" panose="020F0502020204030204" pitchFamily="34" charset="-122"/>
                <a:cs typeface="Calibri" panose="020F0502020204030204" pitchFamily="34" charset="-120"/>
              </a:rPr>
              <a:t>Why classify brain tumors from genes?</a:t>
            </a:r>
            <a:endParaRPr lang="en-US" sz="1150" dirty="0"/>
          </a:p>
        </p:txBody>
      </p:sp>
      <p:sp>
        <p:nvSpPr>
          <p:cNvPr id="8" name="Shape 6"/>
          <p:cNvSpPr/>
          <p:nvPr/>
        </p:nvSpPr>
        <p:spPr>
          <a:xfrm>
            <a:off x="6126480" y="13716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sp>
      <p:sp>
        <p:nvSpPr>
          <p:cNvPr id="9" name="Shape 7"/>
          <p:cNvSpPr/>
          <p:nvPr/>
        </p:nvSpPr>
        <p:spPr>
          <a:xfrm>
            <a:off x="6400800" y="1691640"/>
            <a:ext cx="731520" cy="731520"/>
          </a:xfrm>
          <a:prstGeom prst="ellipse">
            <a:avLst/>
          </a:prstGeom>
          <a:solidFill>
            <a:srgbClr val="DCEFEC"/>
          </a:solidFill>
        </p:spPr>
      </p:sp>
      <p:sp>
        <p:nvSpPr>
          <p:cNvPr id="10" name="Text 8"/>
          <p:cNvSpPr/>
          <p:nvPr/>
        </p:nvSpPr>
        <p:spPr>
          <a:xfrm>
            <a:off x="6400800" y="1691640"/>
            <a:ext cx="731520" cy="731520"/>
          </a:xfrm>
          <a:prstGeom prst="rect">
            <a:avLst/>
          </a:prstGeom>
          <a:noFill/>
        </p:spPr>
        <p:txBody>
          <a:bodyPr wrap="square" rtlCol="0" anchor="ctr"/>
          <a:lstStyle/>
          <a:p>
            <a:pPr marL="0" indent="0" algn="ctr">
              <a:buNone/>
            </a:pPr>
            <a:r>
              <a:rPr lang="en-US" sz="2000" b="1" dirty="0">
                <a:solidFill>
                  <a:srgbClr val="1B7A6E"/>
                </a:solidFill>
                <a:latin typeface="Cambria" panose="02040503050406030204" pitchFamily="34" charset="0"/>
                <a:ea typeface="Cambria" panose="02040503050406030204" pitchFamily="34" charset="-122"/>
                <a:cs typeface="Cambria" panose="02040503050406030204" pitchFamily="34" charset="-120"/>
              </a:rPr>
              <a:t>02</a:t>
            </a:r>
            <a:endParaRPr lang="en-US" sz="2000" dirty="0"/>
          </a:p>
        </p:txBody>
      </p:sp>
      <p:sp>
        <p:nvSpPr>
          <p:cNvPr id="11" name="Text 9"/>
          <p:cNvSpPr/>
          <p:nvPr/>
        </p:nvSpPr>
        <p:spPr>
          <a:xfrm>
            <a:off x="7315200" y="1627632"/>
            <a:ext cx="3749040" cy="365760"/>
          </a:xfrm>
          <a:prstGeom prst="rect">
            <a:avLst/>
          </a:prstGeom>
          <a:noFill/>
        </p:spPr>
        <p:txBody>
          <a:bodyPr wrap="square" rtlCol="0" anchor="ctr"/>
          <a:lstStyle/>
          <a:p>
            <a:pPr marL="0" indent="0">
              <a:buNone/>
            </a:pPr>
            <a:r>
              <a:rPr lang="en-US" sz="1600" b="1" dirty="0">
                <a:solidFill>
                  <a:srgbClr val="23222B"/>
                </a:solidFill>
                <a:latin typeface="Calibri" panose="020F0502020204030204" pitchFamily="34" charset="0"/>
                <a:ea typeface="Calibri" panose="020F0502020204030204" pitchFamily="34" charset="-122"/>
                <a:cs typeface="Calibri" panose="020F0502020204030204" pitchFamily="34" charset="-120"/>
              </a:rPr>
              <a:t>The Dataset</a:t>
            </a:r>
            <a:endParaRPr lang="en-US" sz="1600" dirty="0"/>
          </a:p>
        </p:txBody>
      </p:sp>
      <p:sp>
        <p:nvSpPr>
          <p:cNvPr id="12" name="Text 10"/>
          <p:cNvSpPr/>
          <p:nvPr/>
        </p:nvSpPr>
        <p:spPr>
          <a:xfrm>
            <a:off x="7315200" y="2029968"/>
            <a:ext cx="3749040" cy="502920"/>
          </a:xfrm>
          <a:prstGeom prst="rect">
            <a:avLst/>
          </a:prstGeom>
          <a:noFill/>
        </p:spPr>
        <p:txBody>
          <a:bodyPr wrap="square" rtlCol="0" anchor="ctr"/>
          <a:lstStyle/>
          <a:p>
            <a:pPr marL="0" indent="0">
              <a:buNone/>
            </a:pPr>
            <a:r>
              <a:rPr lang="en-US" sz="1150" dirty="0">
                <a:solidFill>
                  <a:srgbClr val="615F73"/>
                </a:solidFill>
                <a:latin typeface="Calibri" panose="020F0502020204030204" pitchFamily="34" charset="0"/>
                <a:ea typeface="Calibri" panose="020F0502020204030204" pitchFamily="34" charset="-122"/>
                <a:cs typeface="Calibri" panose="020F0502020204030204" pitchFamily="34" charset="-120"/>
              </a:rPr>
              <a:t>130 patients, 54,675 genes, 5 tumor types</a:t>
            </a:r>
            <a:endParaRPr lang="en-US" sz="1150" dirty="0"/>
          </a:p>
        </p:txBody>
      </p:sp>
      <p:sp>
        <p:nvSpPr>
          <p:cNvPr id="13" name="Shape 11"/>
          <p:cNvSpPr/>
          <p:nvPr/>
        </p:nvSpPr>
        <p:spPr>
          <a:xfrm>
            <a:off x="640080" y="29718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sp>
      <p:sp>
        <p:nvSpPr>
          <p:cNvPr id="14" name="Shape 12"/>
          <p:cNvSpPr/>
          <p:nvPr/>
        </p:nvSpPr>
        <p:spPr>
          <a:xfrm>
            <a:off x="914400" y="3291840"/>
            <a:ext cx="731520" cy="731520"/>
          </a:xfrm>
          <a:prstGeom prst="ellipse">
            <a:avLst/>
          </a:prstGeom>
          <a:solidFill>
            <a:srgbClr val="FBEFDA"/>
          </a:solidFill>
        </p:spPr>
      </p:sp>
      <p:sp>
        <p:nvSpPr>
          <p:cNvPr id="15" name="Text 13"/>
          <p:cNvSpPr/>
          <p:nvPr/>
        </p:nvSpPr>
        <p:spPr>
          <a:xfrm>
            <a:off x="914400" y="3291840"/>
            <a:ext cx="731520" cy="731520"/>
          </a:xfrm>
          <a:prstGeom prst="rect">
            <a:avLst/>
          </a:prstGeom>
          <a:noFill/>
        </p:spPr>
        <p:txBody>
          <a:bodyPr wrap="square" rtlCol="0" anchor="ctr"/>
          <a:lstStyle/>
          <a:p>
            <a:pPr marL="0" indent="0" algn="ctr">
              <a:buNone/>
            </a:pPr>
            <a:r>
              <a:rPr lang="en-US" sz="2000" b="1" dirty="0">
                <a:solidFill>
                  <a:srgbClr val="D98E2A"/>
                </a:solidFill>
                <a:latin typeface="Cambria" panose="02040503050406030204" pitchFamily="34" charset="0"/>
                <a:ea typeface="Cambria" panose="02040503050406030204" pitchFamily="34" charset="-122"/>
                <a:cs typeface="Cambria" panose="02040503050406030204" pitchFamily="34" charset="-120"/>
              </a:rPr>
              <a:t>03</a:t>
            </a:r>
            <a:endParaRPr lang="en-US" sz="2000" dirty="0"/>
          </a:p>
        </p:txBody>
      </p:sp>
      <p:sp>
        <p:nvSpPr>
          <p:cNvPr id="16" name="Text 14"/>
          <p:cNvSpPr/>
          <p:nvPr/>
        </p:nvSpPr>
        <p:spPr>
          <a:xfrm>
            <a:off x="1828800" y="3227832"/>
            <a:ext cx="3749040" cy="365760"/>
          </a:xfrm>
          <a:prstGeom prst="rect">
            <a:avLst/>
          </a:prstGeom>
          <a:noFill/>
        </p:spPr>
        <p:txBody>
          <a:bodyPr wrap="square" rtlCol="0" anchor="ctr"/>
          <a:lstStyle/>
          <a:p>
            <a:pPr marL="0" indent="0">
              <a:buNone/>
            </a:pPr>
            <a:r>
              <a:rPr lang="en-US" sz="1600" b="1" dirty="0">
                <a:solidFill>
                  <a:srgbClr val="23222B"/>
                </a:solidFill>
                <a:latin typeface="Calibri" panose="020F0502020204030204" pitchFamily="34" charset="0"/>
                <a:ea typeface="Calibri" panose="020F0502020204030204" pitchFamily="34" charset="-122"/>
                <a:cs typeface="Calibri" panose="020F0502020204030204" pitchFamily="34" charset="-120"/>
              </a:rPr>
              <a:t>Why PCA?</a:t>
            </a:r>
            <a:endParaRPr lang="en-US" sz="1600" dirty="0"/>
          </a:p>
        </p:txBody>
      </p:sp>
      <p:sp>
        <p:nvSpPr>
          <p:cNvPr id="17" name="Text 15"/>
          <p:cNvSpPr/>
          <p:nvPr/>
        </p:nvSpPr>
        <p:spPr>
          <a:xfrm>
            <a:off x="1828800" y="3630168"/>
            <a:ext cx="3749040" cy="502920"/>
          </a:xfrm>
          <a:prstGeom prst="rect">
            <a:avLst/>
          </a:prstGeom>
          <a:noFill/>
        </p:spPr>
        <p:txBody>
          <a:bodyPr wrap="square" rtlCol="0" anchor="ctr"/>
          <a:lstStyle/>
          <a:p>
            <a:pPr marL="0" indent="0">
              <a:buNone/>
            </a:pPr>
            <a:r>
              <a:rPr lang="en-US" sz="1150" dirty="0">
                <a:solidFill>
                  <a:srgbClr val="615F73"/>
                </a:solidFill>
                <a:latin typeface="Calibri" panose="020F0502020204030204" pitchFamily="34" charset="0"/>
                <a:ea typeface="Calibri" panose="020F0502020204030204" pitchFamily="34" charset="-122"/>
                <a:cs typeface="Calibri" panose="020F0502020204030204" pitchFamily="34" charset="-120"/>
              </a:rPr>
              <a:t>Solving the curse of dimensionality</a:t>
            </a:r>
            <a:endParaRPr lang="en-US" sz="1150" dirty="0"/>
          </a:p>
        </p:txBody>
      </p:sp>
      <p:sp>
        <p:nvSpPr>
          <p:cNvPr id="18" name="Shape 16"/>
          <p:cNvSpPr/>
          <p:nvPr/>
        </p:nvSpPr>
        <p:spPr>
          <a:xfrm>
            <a:off x="6126480" y="29718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sp>
      <p:sp>
        <p:nvSpPr>
          <p:cNvPr id="19" name="Shape 17"/>
          <p:cNvSpPr/>
          <p:nvPr/>
        </p:nvSpPr>
        <p:spPr>
          <a:xfrm>
            <a:off x="6400800" y="3291840"/>
            <a:ext cx="731520" cy="731520"/>
          </a:xfrm>
          <a:prstGeom prst="ellipse">
            <a:avLst/>
          </a:prstGeom>
          <a:solidFill>
            <a:srgbClr val="F6E3E6"/>
          </a:solidFill>
        </p:spPr>
      </p:sp>
      <p:sp>
        <p:nvSpPr>
          <p:cNvPr id="20" name="Text 18"/>
          <p:cNvSpPr/>
          <p:nvPr/>
        </p:nvSpPr>
        <p:spPr>
          <a:xfrm>
            <a:off x="6400800" y="3291840"/>
            <a:ext cx="731520" cy="731520"/>
          </a:xfrm>
          <a:prstGeom prst="rect">
            <a:avLst/>
          </a:prstGeom>
          <a:noFill/>
        </p:spPr>
        <p:txBody>
          <a:bodyPr wrap="square" rtlCol="0" anchor="ctr"/>
          <a:lstStyle/>
          <a:p>
            <a:pPr marL="0" indent="0" algn="ctr">
              <a:buNone/>
            </a:pPr>
            <a:r>
              <a:rPr lang="en-US" sz="2000" b="1" dirty="0">
                <a:solidFill>
                  <a:srgbClr val="B5495B"/>
                </a:solidFill>
                <a:latin typeface="Cambria" panose="02040503050406030204" pitchFamily="34" charset="0"/>
                <a:ea typeface="Cambria" panose="02040503050406030204" pitchFamily="34" charset="-122"/>
                <a:cs typeface="Cambria" panose="02040503050406030204" pitchFamily="34" charset="-120"/>
              </a:rPr>
              <a:t>04</a:t>
            </a:r>
            <a:endParaRPr lang="en-US" sz="2000" dirty="0"/>
          </a:p>
        </p:txBody>
      </p:sp>
      <p:sp>
        <p:nvSpPr>
          <p:cNvPr id="21" name="Text 19"/>
          <p:cNvSpPr/>
          <p:nvPr/>
        </p:nvSpPr>
        <p:spPr>
          <a:xfrm>
            <a:off x="7315200" y="3227832"/>
            <a:ext cx="3749040" cy="365760"/>
          </a:xfrm>
          <a:prstGeom prst="rect">
            <a:avLst/>
          </a:prstGeom>
          <a:noFill/>
        </p:spPr>
        <p:txBody>
          <a:bodyPr wrap="square" rtlCol="0" anchor="ctr"/>
          <a:lstStyle/>
          <a:p>
            <a:pPr marL="0" indent="0">
              <a:buNone/>
            </a:pPr>
            <a:r>
              <a:rPr lang="en-US" altLang="en-US" sz="1600" b="1" dirty="0"/>
              <a:t>XGBoost</a:t>
            </a:r>
            <a:endParaRPr lang="en-US" altLang="en-US" sz="1600" b="1" dirty="0"/>
          </a:p>
        </p:txBody>
      </p:sp>
      <p:sp>
        <p:nvSpPr>
          <p:cNvPr id="22" name="Text 20"/>
          <p:cNvSpPr/>
          <p:nvPr/>
        </p:nvSpPr>
        <p:spPr>
          <a:xfrm>
            <a:off x="7315200" y="3630168"/>
            <a:ext cx="3749040" cy="502920"/>
          </a:xfrm>
          <a:prstGeom prst="rect">
            <a:avLst/>
          </a:prstGeom>
          <a:noFill/>
        </p:spPr>
        <p:txBody>
          <a:bodyPr wrap="square" rtlCol="0" anchor="ctr"/>
          <a:lstStyle/>
          <a:p>
            <a:pPr marL="0" indent="0">
              <a:buNone/>
            </a:pPr>
            <a:r>
              <a:rPr lang="en-US" sz="1150" dirty="0"/>
              <a:t>recall</a:t>
            </a:r>
            <a:endParaRPr lang="en-US" sz="1150" dirty="0"/>
          </a:p>
        </p:txBody>
      </p:sp>
      <p:sp>
        <p:nvSpPr>
          <p:cNvPr id="23" name="Shape 21"/>
          <p:cNvSpPr/>
          <p:nvPr/>
        </p:nvSpPr>
        <p:spPr>
          <a:xfrm>
            <a:off x="640080" y="45720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txBody>
          <a:bodyPr/>
          <a:p>
            <a:endParaRPr lang="en-US"/>
          </a:p>
        </p:txBody>
      </p:sp>
      <p:sp>
        <p:nvSpPr>
          <p:cNvPr id="24" name="Shape 22"/>
          <p:cNvSpPr/>
          <p:nvPr/>
        </p:nvSpPr>
        <p:spPr>
          <a:xfrm>
            <a:off x="914400" y="4892040"/>
            <a:ext cx="731520" cy="731520"/>
          </a:xfrm>
          <a:prstGeom prst="ellipse">
            <a:avLst/>
          </a:prstGeom>
          <a:solidFill>
            <a:srgbClr val="EBE3F5"/>
          </a:solidFill>
        </p:spPr>
      </p:sp>
      <p:sp>
        <p:nvSpPr>
          <p:cNvPr id="25" name="Text 23"/>
          <p:cNvSpPr/>
          <p:nvPr/>
        </p:nvSpPr>
        <p:spPr>
          <a:xfrm>
            <a:off x="914400" y="4892040"/>
            <a:ext cx="731520" cy="731520"/>
          </a:xfrm>
          <a:prstGeom prst="rect">
            <a:avLst/>
          </a:prstGeom>
          <a:noFill/>
        </p:spPr>
        <p:txBody>
          <a:bodyPr wrap="square" rtlCol="0" anchor="ctr"/>
          <a:lstStyle/>
          <a:p>
            <a:pPr marL="0" indent="0" algn="ctr">
              <a:buNone/>
            </a:pPr>
            <a:r>
              <a:rPr lang="en-US" sz="2000" b="1" dirty="0">
                <a:solidFill>
                  <a:srgbClr val="5B3A8E"/>
                </a:solidFill>
                <a:latin typeface="Cambria" panose="02040503050406030204" pitchFamily="34" charset="0"/>
                <a:ea typeface="Cambria" panose="02040503050406030204" pitchFamily="34" charset="-122"/>
                <a:cs typeface="Cambria" panose="02040503050406030204" pitchFamily="34" charset="-120"/>
              </a:rPr>
              <a:t>05</a:t>
            </a:r>
            <a:endParaRPr lang="en-US" sz="2000" dirty="0"/>
          </a:p>
        </p:txBody>
      </p:sp>
      <p:sp>
        <p:nvSpPr>
          <p:cNvPr id="26" name="Text 24"/>
          <p:cNvSpPr/>
          <p:nvPr/>
        </p:nvSpPr>
        <p:spPr>
          <a:xfrm>
            <a:off x="1828800" y="4828032"/>
            <a:ext cx="3749040" cy="365760"/>
          </a:xfrm>
          <a:prstGeom prst="rect">
            <a:avLst/>
          </a:prstGeom>
          <a:noFill/>
        </p:spPr>
        <p:txBody>
          <a:bodyPr wrap="square" rtlCol="0" anchor="ctr"/>
          <a:lstStyle/>
          <a:p>
            <a:pPr marL="0" indent="0">
              <a:buNone/>
            </a:pPr>
            <a:r>
              <a:rPr lang="en-US" sz="1600" b="1" dirty="0">
                <a:solidFill>
                  <a:srgbClr val="23222B"/>
                </a:solidFill>
                <a:latin typeface="Calibri" panose="020F0502020204030204" pitchFamily="34" charset="0"/>
                <a:ea typeface="Calibri" panose="020F0502020204030204" pitchFamily="34" charset="-122"/>
                <a:cs typeface="Calibri" panose="020F0502020204030204" pitchFamily="34" charset="-120"/>
              </a:rPr>
              <a:t>Results and </a:t>
            </a:r>
            <a:r>
              <a:rPr lang="en-US" altLang="en-US" sz="1600" b="1" dirty="0">
                <a:sym typeface="+mn-ea"/>
              </a:rPr>
              <a:t>Model Comparison </a:t>
            </a:r>
            <a:endParaRPr lang="en-US" sz="1600" b="1" dirty="0"/>
          </a:p>
        </p:txBody>
      </p:sp>
      <p:sp>
        <p:nvSpPr>
          <p:cNvPr id="27" name="Text 25"/>
          <p:cNvSpPr/>
          <p:nvPr/>
        </p:nvSpPr>
        <p:spPr>
          <a:xfrm>
            <a:off x="1828800" y="5230368"/>
            <a:ext cx="3749040" cy="502920"/>
          </a:xfrm>
          <a:prstGeom prst="rect">
            <a:avLst/>
          </a:prstGeom>
          <a:noFill/>
        </p:spPr>
        <p:txBody>
          <a:bodyPr wrap="square" rtlCol="0" anchor="ctr"/>
          <a:lstStyle/>
          <a:p>
            <a:pPr marL="0" indent="0">
              <a:buNone/>
            </a:pPr>
            <a:r>
              <a:rPr lang="en-US" sz="1150" dirty="0">
                <a:solidFill>
                  <a:srgbClr val="615F73"/>
                </a:solidFill>
                <a:latin typeface="Calibri" panose="020F0502020204030204" pitchFamily="34" charset="0"/>
                <a:ea typeface="Calibri" panose="020F0502020204030204" pitchFamily="34" charset="-122"/>
                <a:cs typeface="Calibri" panose="020F0502020204030204" pitchFamily="34" charset="-120"/>
              </a:rPr>
              <a:t>88.46% accuracy, full evaluation</a:t>
            </a:r>
            <a:endParaRPr lang="en-US" sz="1150" dirty="0"/>
          </a:p>
        </p:txBody>
      </p:sp>
      <p:sp>
        <p:nvSpPr>
          <p:cNvPr id="28" name="Shape 26"/>
          <p:cNvSpPr/>
          <p:nvPr/>
        </p:nvSpPr>
        <p:spPr>
          <a:xfrm>
            <a:off x="6126480" y="4572000"/>
            <a:ext cx="5212080" cy="1371600"/>
          </a:xfrm>
          <a:prstGeom prst="roundRect">
            <a:avLst>
              <a:gd name="adj" fmla="val 5333"/>
            </a:avLst>
          </a:prstGeom>
          <a:solidFill>
            <a:srgbClr val="FFFFFF"/>
          </a:solidFill>
          <a:effectLst>
            <a:outerShdw blurRad="101600" dist="25400" dir="5400000" algn="bl" rotWithShape="0">
              <a:srgbClr val="000000">
                <a:alpha val="8000"/>
              </a:srgbClr>
            </a:outerShdw>
          </a:effectLst>
        </p:spPr>
      </p:sp>
      <p:sp>
        <p:nvSpPr>
          <p:cNvPr id="29" name="Shape 27"/>
          <p:cNvSpPr/>
          <p:nvPr/>
        </p:nvSpPr>
        <p:spPr>
          <a:xfrm>
            <a:off x="6400800" y="4892040"/>
            <a:ext cx="731520" cy="731520"/>
          </a:xfrm>
          <a:prstGeom prst="ellipse">
            <a:avLst/>
          </a:prstGeom>
          <a:solidFill>
            <a:srgbClr val="DCEFEC"/>
          </a:solidFill>
        </p:spPr>
      </p:sp>
      <p:sp>
        <p:nvSpPr>
          <p:cNvPr id="30" name="Text 28"/>
          <p:cNvSpPr/>
          <p:nvPr/>
        </p:nvSpPr>
        <p:spPr>
          <a:xfrm>
            <a:off x="6400800" y="4892040"/>
            <a:ext cx="731520" cy="731520"/>
          </a:xfrm>
          <a:prstGeom prst="rect">
            <a:avLst/>
          </a:prstGeom>
          <a:noFill/>
        </p:spPr>
        <p:txBody>
          <a:bodyPr wrap="square" rtlCol="0" anchor="ctr"/>
          <a:lstStyle/>
          <a:p>
            <a:pPr marL="0" indent="0" algn="ctr">
              <a:buNone/>
            </a:pPr>
            <a:r>
              <a:rPr lang="en-US" sz="2000" b="1" dirty="0">
                <a:solidFill>
                  <a:srgbClr val="1B7A6E"/>
                </a:solidFill>
                <a:latin typeface="Cambria" panose="02040503050406030204" pitchFamily="34" charset="0"/>
                <a:ea typeface="Cambria" panose="02040503050406030204" pitchFamily="34" charset="-122"/>
                <a:cs typeface="Cambria" panose="02040503050406030204" pitchFamily="34" charset="-120"/>
              </a:rPr>
              <a:t>06</a:t>
            </a:r>
            <a:endParaRPr lang="en-US" sz="2000" dirty="0"/>
          </a:p>
        </p:txBody>
      </p:sp>
      <p:sp>
        <p:nvSpPr>
          <p:cNvPr id="31" name="Text 29"/>
          <p:cNvSpPr/>
          <p:nvPr/>
        </p:nvSpPr>
        <p:spPr>
          <a:xfrm>
            <a:off x="7315200" y="4828032"/>
            <a:ext cx="3749040" cy="365760"/>
          </a:xfrm>
          <a:prstGeom prst="rect">
            <a:avLst/>
          </a:prstGeom>
          <a:noFill/>
        </p:spPr>
        <p:txBody>
          <a:bodyPr wrap="square" rtlCol="0" anchor="ctr"/>
          <a:lstStyle/>
          <a:p>
            <a:pPr marL="0" indent="0">
              <a:buNone/>
            </a:pPr>
            <a:r>
              <a:rPr lang="en-US" sz="1600" b="1" dirty="0">
                <a:solidFill>
                  <a:srgbClr val="23222B"/>
                </a:solidFill>
                <a:latin typeface="Calibri" panose="020F0502020204030204" pitchFamily="34" charset="0"/>
                <a:ea typeface="Calibri" panose="020F0502020204030204" pitchFamily="34" charset="-122"/>
                <a:cs typeface="Calibri" panose="020F0502020204030204" pitchFamily="34" charset="-120"/>
              </a:rPr>
              <a:t>What's Next</a:t>
            </a:r>
            <a:endParaRPr lang="en-US" sz="1600" dirty="0"/>
          </a:p>
        </p:txBody>
      </p:sp>
      <p:sp>
        <p:nvSpPr>
          <p:cNvPr id="32" name="Text 30"/>
          <p:cNvSpPr/>
          <p:nvPr/>
        </p:nvSpPr>
        <p:spPr>
          <a:xfrm>
            <a:off x="7315200" y="5230368"/>
            <a:ext cx="3749040" cy="502920"/>
          </a:xfrm>
          <a:prstGeom prst="rect">
            <a:avLst/>
          </a:prstGeom>
          <a:noFill/>
        </p:spPr>
        <p:txBody>
          <a:bodyPr wrap="square" rtlCol="0" anchor="ctr"/>
          <a:lstStyle/>
          <a:p>
            <a:pPr marL="0" indent="0">
              <a:buNone/>
            </a:pPr>
            <a:r>
              <a:rPr lang="en-US" sz="1150" dirty="0">
                <a:solidFill>
                  <a:srgbClr val="615F73"/>
                </a:solidFill>
                <a:latin typeface="Calibri" panose="020F0502020204030204" pitchFamily="34" charset="0"/>
                <a:ea typeface="Calibri" panose="020F0502020204030204" pitchFamily="34" charset="-122"/>
                <a:cs typeface="Calibri" panose="020F0502020204030204" pitchFamily="34" charset="-120"/>
              </a:rPr>
              <a:t>Flask deployment &amp; real-world use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D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Problem</a:t>
            </a:r>
            <a:endParaRPr lang="en-US" sz="3000" dirty="0"/>
          </a:p>
        </p:txBody>
      </p:sp>
      <p:pic>
        <p:nvPicPr>
          <p:cNvPr id="3" name="Image 0" descr="preencoded.png"/>
          <p:cNvPicPr>
            <a:picLocks noChangeAspect="1"/>
          </p:cNvPicPr>
          <p:nvPr/>
        </p:nvPicPr>
        <p:blipFill>
          <a:blip r:embed="rId1"/>
          <a:stretch>
            <a:fillRect/>
          </a:stretch>
        </p:blipFill>
        <p:spPr>
          <a:xfrm>
            <a:off x="640080" y="1417320"/>
            <a:ext cx="411480" cy="411480"/>
          </a:xfrm>
          <a:prstGeom prst="rect">
            <a:avLst/>
          </a:prstGeom>
        </p:spPr>
      </p:pic>
      <p:sp>
        <p:nvSpPr>
          <p:cNvPr id="4" name="Text 1"/>
          <p:cNvSpPr/>
          <p:nvPr/>
        </p:nvSpPr>
        <p:spPr>
          <a:xfrm>
            <a:off x="1188720" y="1371600"/>
            <a:ext cx="5943600" cy="1463040"/>
          </a:xfrm>
          <a:prstGeom prst="rect">
            <a:avLst/>
          </a:prstGeom>
          <a:noFill/>
        </p:spPr>
        <p:txBody>
          <a:bodyPr wrap="square" rtlCol="0" anchor="ctr"/>
          <a:lstStyle/>
          <a:p>
            <a:pPr marL="0" indent="0">
              <a:lnSpc>
                <a:spcPct val="130000"/>
              </a:lnSpc>
              <a:buNone/>
            </a:pPr>
            <a:r>
              <a:rPr lang="en-US" sz="1400" dirty="0">
                <a:solidFill>
                  <a:schemeClr val="bg1"/>
                </a:solidFill>
                <a:uFillTx/>
                <a:latin typeface="Calibri" panose="020F0502020204030204" pitchFamily="34" charset="0"/>
                <a:ea typeface="Calibri" panose="020F0502020204030204" pitchFamily="34" charset="-122"/>
                <a:cs typeface="Calibri" panose="020F0502020204030204" pitchFamily="34" charset="-120"/>
              </a:rPr>
              <a:t>Diagnosing the exact type of brain tumor is critical — treatment plans differ completely between glioblastoma, medulloblastoma, ependymoma, and pilocytic astrocytoma. Misclassification can mean the wrong treatment.</a:t>
            </a:r>
            <a:endParaRPr lang="en-US" sz="1400" dirty="0">
              <a:solidFill>
                <a:schemeClr val="bg1"/>
              </a:solidFill>
              <a:uFillTx/>
              <a:latin typeface="Calibri" panose="020F0502020204030204" pitchFamily="34" charset="0"/>
              <a:ea typeface="Calibri" panose="020F0502020204030204" pitchFamily="34" charset="-122"/>
              <a:cs typeface="Calibri" panose="020F0502020204030204" pitchFamily="34" charset="-120"/>
            </a:endParaRPr>
          </a:p>
        </p:txBody>
      </p:sp>
      <p:sp>
        <p:nvSpPr>
          <p:cNvPr id="5" name="Text 2"/>
          <p:cNvSpPr/>
          <p:nvPr/>
        </p:nvSpPr>
        <p:spPr>
          <a:xfrm>
            <a:off x="1188720" y="2880360"/>
            <a:ext cx="5943600" cy="1188720"/>
          </a:xfrm>
          <a:prstGeom prst="rect">
            <a:avLst/>
          </a:prstGeom>
          <a:noFill/>
        </p:spPr>
        <p:txBody>
          <a:bodyPr wrap="square" rtlCol="0" anchor="ctr"/>
          <a:lstStyle/>
          <a:p>
            <a:pPr marL="0" indent="0">
              <a:lnSpc>
                <a:spcPct val="130000"/>
              </a:lnSpc>
              <a:buNone/>
            </a:pPr>
            <a:r>
              <a:rPr lang="en-US" altLang="en-US" sz="1400" dirty="0">
                <a:solidFill>
                  <a:schemeClr val="bg1"/>
                </a:solidFill>
                <a:uFillTx/>
              </a:rPr>
              <a:t>In the past, doctors had to perform surgery to remove a small piece of the tumor and then wait for lab tests to identify its type. Now, by analyzing gene activity from tumor tissue, we can classify brain tumors faster and more accurately using data.</a:t>
            </a:r>
            <a:endParaRPr lang="en-US" altLang="en-US" sz="1400" dirty="0">
              <a:solidFill>
                <a:schemeClr val="bg1"/>
              </a:solidFill>
              <a:uFillTx/>
            </a:endParaRPr>
          </a:p>
        </p:txBody>
      </p:sp>
      <p:sp>
        <p:nvSpPr>
          <p:cNvPr id="6" name="Shape 3"/>
          <p:cNvSpPr/>
          <p:nvPr/>
        </p:nvSpPr>
        <p:spPr>
          <a:xfrm>
            <a:off x="7680960" y="1371600"/>
            <a:ext cx="3840480" cy="1280160"/>
          </a:xfrm>
          <a:prstGeom prst="roundRect">
            <a:avLst>
              <a:gd name="adj" fmla="val 5714"/>
            </a:avLst>
          </a:prstGeom>
          <a:solidFill>
            <a:srgbClr val="362655"/>
          </a:solidFill>
        </p:spPr>
      </p:sp>
      <p:sp>
        <p:nvSpPr>
          <p:cNvPr id="7" name="Text 4"/>
          <p:cNvSpPr/>
          <p:nvPr/>
        </p:nvSpPr>
        <p:spPr>
          <a:xfrm>
            <a:off x="7955280" y="1508760"/>
            <a:ext cx="1828800" cy="777240"/>
          </a:xfrm>
          <a:prstGeom prst="rect">
            <a:avLst/>
          </a:prstGeom>
          <a:noFill/>
        </p:spPr>
        <p:txBody>
          <a:bodyPr wrap="square" rtlCol="0" anchor="ctr"/>
          <a:lstStyle/>
          <a:p>
            <a:pPr marL="0" indent="0">
              <a:buNone/>
            </a:pPr>
            <a:r>
              <a:rPr lang="en-US" sz="3400" b="1" dirty="0">
                <a:solidFill>
                  <a:srgbClr val="D98E2A"/>
                </a:solidFill>
                <a:latin typeface="Cambria" panose="02040503050406030204" pitchFamily="34" charset="0"/>
                <a:ea typeface="Cambria" panose="02040503050406030204" pitchFamily="34" charset="-122"/>
                <a:cs typeface="Cambria" panose="02040503050406030204" pitchFamily="34" charset="-120"/>
              </a:rPr>
              <a:t>5</a:t>
            </a:r>
            <a:endParaRPr lang="en-US" sz="3400" dirty="0"/>
          </a:p>
        </p:txBody>
      </p:sp>
      <p:sp>
        <p:nvSpPr>
          <p:cNvPr id="8" name="Text 5"/>
          <p:cNvSpPr/>
          <p:nvPr/>
        </p:nvSpPr>
        <p:spPr>
          <a:xfrm>
            <a:off x="7955280" y="2212848"/>
            <a:ext cx="3291840" cy="320040"/>
          </a:xfrm>
          <a:prstGeom prst="rect">
            <a:avLst/>
          </a:prstGeom>
          <a:noFill/>
        </p:spPr>
        <p:txBody>
          <a:bodyPr wrap="square" rtlCol="0" anchor="ctr"/>
          <a:lstStyle/>
          <a:p>
            <a:pPr marL="0" indent="0">
              <a:buNone/>
            </a:pPr>
            <a:r>
              <a:rPr lang="en-US" sz="1200" dirty="0">
                <a:solidFill>
                  <a:srgbClr val="C9BEE0"/>
                </a:solidFill>
                <a:latin typeface="Calibri" panose="020F0502020204030204" pitchFamily="34" charset="0"/>
                <a:ea typeface="Calibri" panose="020F0502020204030204" pitchFamily="34" charset="-122"/>
                <a:cs typeface="Calibri" panose="020F0502020204030204" pitchFamily="34" charset="-120"/>
              </a:rPr>
              <a:t>Tumor classes</a:t>
            </a:r>
            <a:endParaRPr lang="en-US" sz="1200" dirty="0"/>
          </a:p>
        </p:txBody>
      </p:sp>
      <p:sp>
        <p:nvSpPr>
          <p:cNvPr id="9" name="Shape 6"/>
          <p:cNvSpPr/>
          <p:nvPr/>
        </p:nvSpPr>
        <p:spPr>
          <a:xfrm>
            <a:off x="7680960" y="2880360"/>
            <a:ext cx="3840480" cy="1280160"/>
          </a:xfrm>
          <a:prstGeom prst="roundRect">
            <a:avLst>
              <a:gd name="adj" fmla="val 5714"/>
            </a:avLst>
          </a:prstGeom>
          <a:solidFill>
            <a:srgbClr val="362655"/>
          </a:solidFill>
        </p:spPr>
      </p:sp>
      <p:sp>
        <p:nvSpPr>
          <p:cNvPr id="10" name="Text 7"/>
          <p:cNvSpPr/>
          <p:nvPr/>
        </p:nvSpPr>
        <p:spPr>
          <a:xfrm>
            <a:off x="7955280" y="3017520"/>
            <a:ext cx="1828800" cy="777240"/>
          </a:xfrm>
          <a:prstGeom prst="rect">
            <a:avLst/>
          </a:prstGeom>
          <a:noFill/>
        </p:spPr>
        <p:txBody>
          <a:bodyPr wrap="square" rtlCol="0" anchor="ctr"/>
          <a:lstStyle/>
          <a:p>
            <a:pPr marL="0" indent="0">
              <a:buNone/>
            </a:pPr>
            <a:r>
              <a:rPr lang="en-US" sz="3400" b="1" dirty="0">
                <a:solidFill>
                  <a:srgbClr val="D98E2A"/>
                </a:solidFill>
                <a:latin typeface="Cambria" panose="02040503050406030204" pitchFamily="34" charset="0"/>
                <a:ea typeface="Cambria" panose="02040503050406030204" pitchFamily="34" charset="-122"/>
                <a:cs typeface="Cambria" panose="02040503050406030204" pitchFamily="34" charset="-120"/>
              </a:rPr>
              <a:t>130</a:t>
            </a:r>
            <a:endParaRPr lang="en-US" sz="3400" dirty="0"/>
          </a:p>
        </p:txBody>
      </p:sp>
      <p:sp>
        <p:nvSpPr>
          <p:cNvPr id="11" name="Text 8"/>
          <p:cNvSpPr/>
          <p:nvPr/>
        </p:nvSpPr>
        <p:spPr>
          <a:xfrm>
            <a:off x="7955280" y="3721608"/>
            <a:ext cx="3291840" cy="320040"/>
          </a:xfrm>
          <a:prstGeom prst="rect">
            <a:avLst/>
          </a:prstGeom>
          <a:noFill/>
        </p:spPr>
        <p:txBody>
          <a:bodyPr wrap="square" rtlCol="0" anchor="ctr"/>
          <a:lstStyle/>
          <a:p>
            <a:pPr marL="0" indent="0">
              <a:buNone/>
            </a:pPr>
            <a:r>
              <a:rPr lang="en-US" sz="1200" dirty="0">
                <a:solidFill>
                  <a:srgbClr val="C9BEE0"/>
                </a:solidFill>
                <a:latin typeface="Calibri" panose="020F0502020204030204" pitchFamily="34" charset="0"/>
                <a:ea typeface="Calibri" panose="020F0502020204030204" pitchFamily="34" charset="-122"/>
                <a:cs typeface="Calibri" panose="020F0502020204030204" pitchFamily="34" charset="-120"/>
              </a:rPr>
              <a:t>Patient samples</a:t>
            </a:r>
            <a:endParaRPr lang="en-US" sz="1200" dirty="0"/>
          </a:p>
        </p:txBody>
      </p:sp>
      <p:sp>
        <p:nvSpPr>
          <p:cNvPr id="12" name="Shape 9"/>
          <p:cNvSpPr/>
          <p:nvPr/>
        </p:nvSpPr>
        <p:spPr>
          <a:xfrm>
            <a:off x="7680960" y="4389120"/>
            <a:ext cx="3840480" cy="1280160"/>
          </a:xfrm>
          <a:prstGeom prst="roundRect">
            <a:avLst>
              <a:gd name="adj" fmla="val 5714"/>
            </a:avLst>
          </a:prstGeom>
          <a:solidFill>
            <a:srgbClr val="362655"/>
          </a:solidFill>
        </p:spPr>
      </p:sp>
      <p:sp>
        <p:nvSpPr>
          <p:cNvPr id="13" name="Text 10"/>
          <p:cNvSpPr/>
          <p:nvPr/>
        </p:nvSpPr>
        <p:spPr>
          <a:xfrm>
            <a:off x="7955280" y="4526280"/>
            <a:ext cx="1828800" cy="777240"/>
          </a:xfrm>
          <a:prstGeom prst="rect">
            <a:avLst/>
          </a:prstGeom>
          <a:noFill/>
        </p:spPr>
        <p:txBody>
          <a:bodyPr wrap="square" rtlCol="0" anchor="ctr"/>
          <a:lstStyle/>
          <a:p>
            <a:pPr marL="0" indent="0">
              <a:buNone/>
            </a:pPr>
            <a:r>
              <a:rPr lang="en-US" sz="3400" b="1" dirty="0">
                <a:solidFill>
                  <a:srgbClr val="D98E2A"/>
                </a:solidFill>
                <a:latin typeface="Cambria" panose="02040503050406030204" pitchFamily="34" charset="0"/>
                <a:ea typeface="Cambria" panose="02040503050406030204" pitchFamily="34" charset="-122"/>
                <a:cs typeface="Cambria" panose="02040503050406030204" pitchFamily="34" charset="-120"/>
              </a:rPr>
              <a:t>54,675</a:t>
            </a:r>
            <a:endParaRPr lang="en-US" sz="3400" dirty="0"/>
          </a:p>
        </p:txBody>
      </p:sp>
      <p:sp>
        <p:nvSpPr>
          <p:cNvPr id="14" name="Text 11"/>
          <p:cNvSpPr/>
          <p:nvPr/>
        </p:nvSpPr>
        <p:spPr>
          <a:xfrm>
            <a:off x="7955280" y="5230368"/>
            <a:ext cx="3291840" cy="320040"/>
          </a:xfrm>
          <a:prstGeom prst="rect">
            <a:avLst/>
          </a:prstGeom>
          <a:noFill/>
        </p:spPr>
        <p:txBody>
          <a:bodyPr wrap="square" rtlCol="0" anchor="ctr"/>
          <a:lstStyle/>
          <a:p>
            <a:pPr marL="0" indent="0">
              <a:buNone/>
            </a:pPr>
            <a:r>
              <a:rPr lang="en-US" sz="1200" dirty="0">
                <a:solidFill>
                  <a:srgbClr val="C9BEE0"/>
                </a:solidFill>
                <a:latin typeface="Calibri" panose="020F0502020204030204" pitchFamily="34" charset="0"/>
                <a:ea typeface="Calibri" panose="020F0502020204030204" pitchFamily="34" charset="-122"/>
                <a:cs typeface="Calibri" panose="020F0502020204030204" pitchFamily="34" charset="-120"/>
              </a:rPr>
              <a:t>Genes measured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p:spPr>
        <p:txBody>
          <a:bodyPr wrap="square" rtlCol="0" anchor="ctr"/>
          <a:lstStyle/>
          <a:p>
            <a:pPr marL="0" indent="0">
              <a:buNone/>
            </a:pPr>
            <a:r>
              <a:rPr lang="en-US" sz="3000" b="1" dirty="0">
                <a:solidFill>
                  <a:srgbClr val="23222B"/>
                </a:solidFill>
                <a:latin typeface="Cambria" panose="02040503050406030204" pitchFamily="34" charset="0"/>
                <a:ea typeface="Cambria" panose="02040503050406030204" pitchFamily="34" charset="-122"/>
                <a:cs typeface="Cambria" panose="02040503050406030204" pitchFamily="34" charset="-120"/>
              </a:rPr>
              <a:t>Dataset Overview</a:t>
            </a:r>
            <a:endParaRPr lang="en-US" sz="3000" dirty="0"/>
          </a:p>
        </p:txBody>
      </p:sp>
      <p:sp>
        <p:nvSpPr>
          <p:cNvPr id="3" name="Text 1"/>
          <p:cNvSpPr/>
          <p:nvPr/>
        </p:nvSpPr>
        <p:spPr>
          <a:xfrm>
            <a:off x="640080" y="987552"/>
            <a:ext cx="9144000" cy="365760"/>
          </a:xfrm>
          <a:prstGeom prst="rect">
            <a:avLst/>
          </a:prstGeom>
          <a:noFill/>
        </p:spPr>
        <p:txBody>
          <a:bodyPr wrap="square" rtlCol="0" anchor="ctr"/>
          <a:lstStyle/>
          <a:p>
            <a:pPr marL="0" indent="0">
              <a:buNone/>
            </a:pPr>
            <a:r>
              <a:rPr lang="en-US" sz="1350" i="1" dirty="0">
                <a:solidFill>
                  <a:srgbClr val="615F73"/>
                </a:solidFill>
                <a:latin typeface="Calibri" panose="020F0502020204030204" pitchFamily="34" charset="0"/>
                <a:ea typeface="Calibri" panose="020F0502020204030204" pitchFamily="34" charset="-122"/>
                <a:cs typeface="Calibri" panose="020F0502020204030204" pitchFamily="34" charset="-120"/>
              </a:rPr>
              <a:t>Brain Cancer Gene Expression — CuMiDa (GSE50161 microarray)</a:t>
            </a:r>
            <a:endParaRPr lang="en-US" sz="1350" dirty="0"/>
          </a:p>
        </p:txBody>
      </p:sp>
      <p:sp>
        <p:nvSpPr>
          <p:cNvPr id="4" name="Shape 2"/>
          <p:cNvSpPr/>
          <p:nvPr/>
        </p:nvSpPr>
        <p:spPr>
          <a:xfrm>
            <a:off x="640080" y="1508760"/>
            <a:ext cx="10881360" cy="777240"/>
          </a:xfrm>
          <a:prstGeom prst="roundRect">
            <a:avLst>
              <a:gd name="adj" fmla="val 7059"/>
            </a:avLst>
          </a:prstGeom>
          <a:solidFill>
            <a:srgbClr val="FFFFFF"/>
          </a:solidFill>
          <a:effectLst>
            <a:outerShdw blurRad="76200" dist="12700" dir="5400000" algn="bl" rotWithShape="0">
              <a:srgbClr val="000000">
                <a:alpha val="6000"/>
              </a:srgbClr>
            </a:outerShdw>
          </a:effectLst>
        </p:spPr>
      </p:sp>
      <p:sp>
        <p:nvSpPr>
          <p:cNvPr id="5" name="Shape 3"/>
          <p:cNvSpPr/>
          <p:nvPr/>
        </p:nvSpPr>
        <p:spPr>
          <a:xfrm>
            <a:off x="815975" y="1651000"/>
            <a:ext cx="509905" cy="467360"/>
          </a:xfrm>
          <a:prstGeom prst="ellipse">
            <a:avLst/>
          </a:prstGeom>
          <a:solidFill>
            <a:srgbClr val="5B3A8E"/>
          </a:solidFill>
        </p:spPr>
        <p:txBody>
          <a:bodyPr/>
          <a:p>
            <a:pPr indent="0" algn="ctr" fontAlgn="auto">
              <a:buNone/>
            </a:pPr>
            <a:r>
              <a:rPr lang="en-US" sz="1300">
                <a:solidFill>
                  <a:schemeClr val="bg1"/>
                </a:solidFill>
                <a:uFillTx/>
              </a:rPr>
              <a:t>46</a:t>
            </a:r>
            <a:endParaRPr lang="en-US" sz="1300">
              <a:solidFill>
                <a:schemeClr val="bg1"/>
              </a:solidFill>
              <a:uFillTx/>
            </a:endParaRPr>
          </a:p>
        </p:txBody>
      </p:sp>
      <p:sp>
        <p:nvSpPr>
          <p:cNvPr id="6" name="Text 4"/>
          <p:cNvSpPr/>
          <p:nvPr/>
        </p:nvSpPr>
        <p:spPr>
          <a:xfrm>
            <a:off x="868680" y="1673352"/>
            <a:ext cx="457200" cy="457200"/>
          </a:xfrm>
          <a:prstGeom prst="rect">
            <a:avLst/>
          </a:prstGeom>
          <a:noFill/>
        </p:spPr>
        <p:txBody>
          <a:bodyPr wrap="square" rtlCol="0" anchor="ctr"/>
          <a:lstStyle/>
          <a:p>
            <a:pPr marL="0" indent="0" algn="ctr">
              <a:buNone/>
            </a:pPr>
            <a:endParaRPr lang="en-US" sz="1300" dirty="0"/>
          </a:p>
        </p:txBody>
      </p:sp>
      <p:sp>
        <p:nvSpPr>
          <p:cNvPr id="7" name="Text 5"/>
          <p:cNvSpPr/>
          <p:nvPr/>
        </p:nvSpPr>
        <p:spPr>
          <a:xfrm>
            <a:off x="1554480" y="1618488"/>
            <a:ext cx="3291840" cy="548640"/>
          </a:xfrm>
          <a:prstGeom prst="rect">
            <a:avLst/>
          </a:prstGeom>
          <a:noFill/>
        </p:spPr>
        <p:txBody>
          <a:bodyPr wrap="square" rtlCol="0" anchor="ctr"/>
          <a:lstStyle/>
          <a:p>
            <a:pPr marL="0" indent="0">
              <a:buNone/>
            </a:pPr>
            <a:r>
              <a:rPr lang="en-US" sz="1450" b="1" dirty="0">
                <a:solidFill>
                  <a:srgbClr val="23222B"/>
                </a:solidFill>
                <a:latin typeface="Calibri" panose="020F0502020204030204" pitchFamily="34" charset="0"/>
                <a:ea typeface="Calibri" panose="020F0502020204030204" pitchFamily="34" charset="-122"/>
                <a:cs typeface="Calibri" panose="020F0502020204030204" pitchFamily="34" charset="-120"/>
              </a:rPr>
              <a:t>Ependymoma</a:t>
            </a:r>
            <a:endParaRPr lang="en-US" sz="1450" dirty="0"/>
          </a:p>
        </p:txBody>
      </p:sp>
      <p:sp>
        <p:nvSpPr>
          <p:cNvPr id="8" name="Text 6"/>
          <p:cNvSpPr/>
          <p:nvPr/>
        </p:nvSpPr>
        <p:spPr>
          <a:xfrm>
            <a:off x="5029200" y="1618488"/>
            <a:ext cx="6309360" cy="548640"/>
          </a:xfrm>
          <a:prstGeom prst="rect">
            <a:avLst/>
          </a:prstGeom>
          <a:noFill/>
        </p:spPr>
        <p:txBody>
          <a:bodyPr wrap="square" rtlCol="0" anchor="ctr"/>
          <a:lstStyle/>
          <a:p>
            <a:pPr marL="0" indent="0">
              <a:buNone/>
            </a:pPr>
            <a:r>
              <a:rPr lang="en-US" sz="1200" dirty="0">
                <a:solidFill>
                  <a:srgbClr val="615F73"/>
                </a:solidFill>
                <a:latin typeface="Calibri" panose="020F0502020204030204" pitchFamily="34" charset="0"/>
                <a:ea typeface="Calibri" panose="020F0502020204030204" pitchFamily="34" charset="-122"/>
                <a:cs typeface="Calibri" panose="020F0502020204030204" pitchFamily="34" charset="-120"/>
              </a:rPr>
              <a:t>Tumor in the lining of brain/spinal cord</a:t>
            </a:r>
            <a:endParaRPr lang="en-US" sz="1200" dirty="0"/>
          </a:p>
        </p:txBody>
      </p:sp>
      <p:sp>
        <p:nvSpPr>
          <p:cNvPr id="9" name="Shape 7"/>
          <p:cNvSpPr/>
          <p:nvPr/>
        </p:nvSpPr>
        <p:spPr>
          <a:xfrm>
            <a:off x="640080" y="2423160"/>
            <a:ext cx="10881360" cy="777240"/>
          </a:xfrm>
          <a:prstGeom prst="roundRect">
            <a:avLst>
              <a:gd name="adj" fmla="val 7059"/>
            </a:avLst>
          </a:prstGeom>
          <a:solidFill>
            <a:srgbClr val="FFFFFF"/>
          </a:solidFill>
          <a:effectLst>
            <a:outerShdw blurRad="76200" dist="12700" dir="5400000" algn="bl" rotWithShape="0">
              <a:srgbClr val="000000">
                <a:alpha val="6000"/>
              </a:srgbClr>
            </a:outerShdw>
          </a:effectLst>
        </p:spPr>
      </p:sp>
      <p:sp>
        <p:nvSpPr>
          <p:cNvPr id="10" name="Shape 8"/>
          <p:cNvSpPr/>
          <p:nvPr/>
        </p:nvSpPr>
        <p:spPr>
          <a:xfrm>
            <a:off x="868680" y="2587752"/>
            <a:ext cx="457200" cy="457200"/>
          </a:xfrm>
          <a:prstGeom prst="ellipse">
            <a:avLst/>
          </a:prstGeom>
          <a:solidFill>
            <a:srgbClr val="B5495B"/>
          </a:solidFill>
        </p:spPr>
      </p:sp>
      <p:sp>
        <p:nvSpPr>
          <p:cNvPr id="11" name="Text 9"/>
          <p:cNvSpPr/>
          <p:nvPr/>
        </p:nvSpPr>
        <p:spPr>
          <a:xfrm>
            <a:off x="868680" y="2587752"/>
            <a:ext cx="457200" cy="45720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34</a:t>
            </a:r>
            <a:endParaRPr lang="en-US" sz="1300" dirty="0"/>
          </a:p>
        </p:txBody>
      </p:sp>
      <p:sp>
        <p:nvSpPr>
          <p:cNvPr id="12" name="Text 10"/>
          <p:cNvSpPr/>
          <p:nvPr/>
        </p:nvSpPr>
        <p:spPr>
          <a:xfrm>
            <a:off x="1554480" y="2532888"/>
            <a:ext cx="3291840" cy="548640"/>
          </a:xfrm>
          <a:prstGeom prst="rect">
            <a:avLst/>
          </a:prstGeom>
          <a:noFill/>
        </p:spPr>
        <p:txBody>
          <a:bodyPr wrap="square" rtlCol="0" anchor="ctr"/>
          <a:lstStyle/>
          <a:p>
            <a:pPr marL="0" indent="0">
              <a:buNone/>
            </a:pPr>
            <a:r>
              <a:rPr lang="en-US" sz="1450" b="1" dirty="0">
                <a:solidFill>
                  <a:srgbClr val="23222B"/>
                </a:solidFill>
                <a:latin typeface="Calibri" panose="020F0502020204030204" pitchFamily="34" charset="0"/>
                <a:ea typeface="Calibri" panose="020F0502020204030204" pitchFamily="34" charset="-122"/>
                <a:cs typeface="Calibri" panose="020F0502020204030204" pitchFamily="34" charset="-120"/>
              </a:rPr>
              <a:t>Glioblastoma</a:t>
            </a:r>
            <a:endParaRPr lang="en-US" sz="1450" dirty="0"/>
          </a:p>
        </p:txBody>
      </p:sp>
      <p:sp>
        <p:nvSpPr>
          <p:cNvPr id="13" name="Text 11"/>
          <p:cNvSpPr/>
          <p:nvPr/>
        </p:nvSpPr>
        <p:spPr>
          <a:xfrm>
            <a:off x="5029200" y="2532888"/>
            <a:ext cx="6309360" cy="548640"/>
          </a:xfrm>
          <a:prstGeom prst="rect">
            <a:avLst/>
          </a:prstGeom>
          <a:noFill/>
        </p:spPr>
        <p:txBody>
          <a:bodyPr wrap="square" rtlCol="0" anchor="ctr"/>
          <a:lstStyle/>
          <a:p>
            <a:pPr marL="0" indent="0">
              <a:buNone/>
            </a:pPr>
            <a:r>
              <a:rPr lang="en-US" sz="1200" dirty="0">
                <a:solidFill>
                  <a:srgbClr val="615F73"/>
                </a:solidFill>
                <a:latin typeface="Calibri" panose="020F0502020204030204" pitchFamily="34" charset="0"/>
                <a:ea typeface="Calibri" panose="020F0502020204030204" pitchFamily="34" charset="-122"/>
                <a:cs typeface="Calibri" panose="020F0502020204030204" pitchFamily="34" charset="-120"/>
              </a:rPr>
              <a:t>Most aggressive type — can cause vision loss</a:t>
            </a:r>
            <a:endParaRPr lang="en-US" sz="1200" dirty="0"/>
          </a:p>
        </p:txBody>
      </p:sp>
      <p:sp>
        <p:nvSpPr>
          <p:cNvPr id="14" name="Shape 12"/>
          <p:cNvSpPr/>
          <p:nvPr/>
        </p:nvSpPr>
        <p:spPr>
          <a:xfrm>
            <a:off x="640080" y="3337560"/>
            <a:ext cx="10881360" cy="777240"/>
          </a:xfrm>
          <a:prstGeom prst="roundRect">
            <a:avLst>
              <a:gd name="adj" fmla="val 7059"/>
            </a:avLst>
          </a:prstGeom>
          <a:solidFill>
            <a:srgbClr val="FFFFFF"/>
          </a:solidFill>
          <a:effectLst>
            <a:outerShdw blurRad="76200" dist="12700" dir="5400000" algn="bl" rotWithShape="0">
              <a:srgbClr val="000000">
                <a:alpha val="6000"/>
              </a:srgbClr>
            </a:outerShdw>
          </a:effectLst>
        </p:spPr>
      </p:sp>
      <p:sp>
        <p:nvSpPr>
          <p:cNvPr id="15" name="Shape 13"/>
          <p:cNvSpPr/>
          <p:nvPr/>
        </p:nvSpPr>
        <p:spPr>
          <a:xfrm>
            <a:off x="868680" y="3502152"/>
            <a:ext cx="457200" cy="457200"/>
          </a:xfrm>
          <a:prstGeom prst="ellipse">
            <a:avLst/>
          </a:prstGeom>
          <a:solidFill>
            <a:srgbClr val="1B7A6E"/>
          </a:solidFill>
        </p:spPr>
      </p:sp>
      <p:sp>
        <p:nvSpPr>
          <p:cNvPr id="16" name="Text 14"/>
          <p:cNvSpPr/>
          <p:nvPr/>
        </p:nvSpPr>
        <p:spPr>
          <a:xfrm>
            <a:off x="868680" y="3502152"/>
            <a:ext cx="457200" cy="45720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22</a:t>
            </a:r>
            <a:endParaRPr lang="en-US" sz="1300" dirty="0"/>
          </a:p>
        </p:txBody>
      </p:sp>
      <p:sp>
        <p:nvSpPr>
          <p:cNvPr id="17" name="Text 15"/>
          <p:cNvSpPr/>
          <p:nvPr/>
        </p:nvSpPr>
        <p:spPr>
          <a:xfrm>
            <a:off x="1554480" y="3447288"/>
            <a:ext cx="3291840" cy="548640"/>
          </a:xfrm>
          <a:prstGeom prst="rect">
            <a:avLst/>
          </a:prstGeom>
          <a:noFill/>
        </p:spPr>
        <p:txBody>
          <a:bodyPr wrap="square" rtlCol="0" anchor="ctr"/>
          <a:lstStyle/>
          <a:p>
            <a:pPr marL="0" indent="0">
              <a:buNone/>
            </a:pPr>
            <a:r>
              <a:rPr lang="en-US" sz="1450" b="1" dirty="0">
                <a:solidFill>
                  <a:srgbClr val="23222B"/>
                </a:solidFill>
                <a:latin typeface="Calibri" panose="020F0502020204030204" pitchFamily="34" charset="0"/>
                <a:ea typeface="Calibri" panose="020F0502020204030204" pitchFamily="34" charset="-122"/>
                <a:cs typeface="Calibri" panose="020F0502020204030204" pitchFamily="34" charset="-120"/>
              </a:rPr>
              <a:t>Medulloblastoma</a:t>
            </a:r>
            <a:endParaRPr lang="en-US" sz="1450" dirty="0"/>
          </a:p>
        </p:txBody>
      </p:sp>
      <p:sp>
        <p:nvSpPr>
          <p:cNvPr id="18" name="Text 16"/>
          <p:cNvSpPr/>
          <p:nvPr/>
        </p:nvSpPr>
        <p:spPr>
          <a:xfrm>
            <a:off x="5029200" y="3447288"/>
            <a:ext cx="6309360" cy="548640"/>
          </a:xfrm>
          <a:prstGeom prst="rect">
            <a:avLst/>
          </a:prstGeom>
          <a:noFill/>
        </p:spPr>
        <p:txBody>
          <a:bodyPr wrap="square" rtlCol="0" anchor="ctr"/>
          <a:lstStyle/>
          <a:p>
            <a:pPr marL="0" indent="0">
              <a:buNone/>
            </a:pPr>
            <a:r>
              <a:rPr lang="en-US" sz="1200" dirty="0">
                <a:solidFill>
                  <a:srgbClr val="615F73"/>
                </a:solidFill>
                <a:latin typeface="Calibri" panose="020F0502020204030204" pitchFamily="34" charset="0"/>
                <a:ea typeface="Calibri" panose="020F0502020204030204" pitchFamily="34" charset="-122"/>
                <a:cs typeface="Calibri" panose="020F0502020204030204" pitchFamily="34" charset="-120"/>
              </a:rPr>
              <a:t>Common in children, back of brain</a:t>
            </a:r>
            <a:endParaRPr lang="en-US" sz="1200" dirty="0"/>
          </a:p>
        </p:txBody>
      </p:sp>
      <p:sp>
        <p:nvSpPr>
          <p:cNvPr id="19" name="Shape 17"/>
          <p:cNvSpPr/>
          <p:nvPr/>
        </p:nvSpPr>
        <p:spPr>
          <a:xfrm>
            <a:off x="640080" y="4251960"/>
            <a:ext cx="10881360" cy="777240"/>
          </a:xfrm>
          <a:prstGeom prst="roundRect">
            <a:avLst>
              <a:gd name="adj" fmla="val 7059"/>
            </a:avLst>
          </a:prstGeom>
          <a:solidFill>
            <a:srgbClr val="FFFFFF"/>
          </a:solidFill>
          <a:effectLst>
            <a:outerShdw blurRad="76200" dist="12700" dir="5400000" algn="bl" rotWithShape="0">
              <a:srgbClr val="000000">
                <a:alpha val="6000"/>
              </a:srgbClr>
            </a:outerShdw>
          </a:effectLst>
        </p:spPr>
      </p:sp>
      <p:sp>
        <p:nvSpPr>
          <p:cNvPr id="20" name="Shape 18"/>
          <p:cNvSpPr/>
          <p:nvPr/>
        </p:nvSpPr>
        <p:spPr>
          <a:xfrm>
            <a:off x="868680" y="4416552"/>
            <a:ext cx="457200" cy="457200"/>
          </a:xfrm>
          <a:prstGeom prst="ellipse">
            <a:avLst/>
          </a:prstGeom>
          <a:solidFill>
            <a:srgbClr val="D98E2A"/>
          </a:solidFill>
        </p:spPr>
      </p:sp>
      <p:sp>
        <p:nvSpPr>
          <p:cNvPr id="21" name="Text 19"/>
          <p:cNvSpPr/>
          <p:nvPr/>
        </p:nvSpPr>
        <p:spPr>
          <a:xfrm>
            <a:off x="868680" y="4416552"/>
            <a:ext cx="457200" cy="45720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a:t>
            </a:r>
            <a:endParaRPr lang="en-US" sz="1300" dirty="0"/>
          </a:p>
        </p:txBody>
      </p:sp>
      <p:sp>
        <p:nvSpPr>
          <p:cNvPr id="22" name="Text 20"/>
          <p:cNvSpPr/>
          <p:nvPr/>
        </p:nvSpPr>
        <p:spPr>
          <a:xfrm>
            <a:off x="1554480" y="4361688"/>
            <a:ext cx="3291840" cy="548640"/>
          </a:xfrm>
          <a:prstGeom prst="rect">
            <a:avLst/>
          </a:prstGeom>
          <a:noFill/>
        </p:spPr>
        <p:txBody>
          <a:bodyPr wrap="square" rtlCol="0" anchor="ctr"/>
          <a:lstStyle/>
          <a:p>
            <a:pPr marL="0" indent="0">
              <a:buNone/>
            </a:pPr>
            <a:r>
              <a:rPr lang="en-US" sz="1450" b="1" dirty="0">
                <a:solidFill>
                  <a:srgbClr val="23222B"/>
                </a:solidFill>
                <a:latin typeface="Calibri" panose="020F0502020204030204" pitchFamily="34" charset="0"/>
                <a:ea typeface="Calibri" panose="020F0502020204030204" pitchFamily="34" charset="-122"/>
                <a:cs typeface="Calibri" panose="020F0502020204030204" pitchFamily="34" charset="-120"/>
              </a:rPr>
              <a:t>Pilocytic Astrocytoma</a:t>
            </a:r>
            <a:endParaRPr lang="en-US" sz="1450" dirty="0"/>
          </a:p>
        </p:txBody>
      </p:sp>
      <p:sp>
        <p:nvSpPr>
          <p:cNvPr id="23" name="Text 21"/>
          <p:cNvSpPr/>
          <p:nvPr/>
        </p:nvSpPr>
        <p:spPr>
          <a:xfrm>
            <a:off x="5029200" y="4361688"/>
            <a:ext cx="6309360" cy="548640"/>
          </a:xfrm>
          <a:prstGeom prst="rect">
            <a:avLst/>
          </a:prstGeom>
          <a:noFill/>
        </p:spPr>
        <p:txBody>
          <a:bodyPr wrap="square" rtlCol="0" anchor="ctr"/>
          <a:lstStyle/>
          <a:p>
            <a:pPr marL="0" indent="0">
              <a:buNone/>
            </a:pPr>
            <a:r>
              <a:rPr lang="en-US" sz="1200" dirty="0">
                <a:solidFill>
                  <a:srgbClr val="615F73"/>
                </a:solidFill>
                <a:latin typeface="Calibri" panose="020F0502020204030204" pitchFamily="34" charset="0"/>
                <a:ea typeface="Calibri" panose="020F0502020204030204" pitchFamily="34" charset="-122"/>
                <a:cs typeface="Calibri" panose="020F0502020204030204" pitchFamily="34" charset="-120"/>
              </a:rPr>
              <a:t>Slow-growing brain tumor</a:t>
            </a:r>
            <a:endParaRPr lang="en-US" sz="1200" dirty="0"/>
          </a:p>
        </p:txBody>
      </p:sp>
      <p:sp>
        <p:nvSpPr>
          <p:cNvPr id="24" name="Shape 22"/>
          <p:cNvSpPr/>
          <p:nvPr/>
        </p:nvSpPr>
        <p:spPr>
          <a:xfrm>
            <a:off x="640080" y="5166360"/>
            <a:ext cx="10881360" cy="777240"/>
          </a:xfrm>
          <a:prstGeom prst="roundRect">
            <a:avLst>
              <a:gd name="adj" fmla="val 7059"/>
            </a:avLst>
          </a:prstGeom>
          <a:solidFill>
            <a:srgbClr val="FFFFFF"/>
          </a:solidFill>
          <a:effectLst>
            <a:outerShdw blurRad="76200" dist="12700" dir="5400000" algn="bl" rotWithShape="0">
              <a:srgbClr val="000000">
                <a:alpha val="6000"/>
              </a:srgbClr>
            </a:outerShdw>
          </a:effectLst>
        </p:spPr>
      </p:sp>
      <p:sp>
        <p:nvSpPr>
          <p:cNvPr id="25" name="Shape 23"/>
          <p:cNvSpPr/>
          <p:nvPr/>
        </p:nvSpPr>
        <p:spPr>
          <a:xfrm>
            <a:off x="868680" y="5330952"/>
            <a:ext cx="457200" cy="457200"/>
          </a:xfrm>
          <a:prstGeom prst="ellipse">
            <a:avLst/>
          </a:prstGeom>
          <a:solidFill>
            <a:srgbClr val="5C6B68"/>
          </a:solidFill>
        </p:spPr>
      </p:sp>
      <p:sp>
        <p:nvSpPr>
          <p:cNvPr id="26" name="Text 24"/>
          <p:cNvSpPr/>
          <p:nvPr/>
        </p:nvSpPr>
        <p:spPr>
          <a:xfrm>
            <a:off x="868680" y="5330952"/>
            <a:ext cx="457200" cy="45720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300" dirty="0"/>
          </a:p>
        </p:txBody>
      </p:sp>
      <p:sp>
        <p:nvSpPr>
          <p:cNvPr id="27" name="Text 25"/>
          <p:cNvSpPr/>
          <p:nvPr/>
        </p:nvSpPr>
        <p:spPr>
          <a:xfrm>
            <a:off x="1554480" y="5276088"/>
            <a:ext cx="3291840" cy="548640"/>
          </a:xfrm>
          <a:prstGeom prst="rect">
            <a:avLst/>
          </a:prstGeom>
          <a:noFill/>
        </p:spPr>
        <p:txBody>
          <a:bodyPr wrap="square" rtlCol="0" anchor="ctr"/>
          <a:lstStyle/>
          <a:p>
            <a:pPr marL="0" indent="0">
              <a:buNone/>
            </a:pPr>
            <a:r>
              <a:rPr lang="en-US" sz="1450" b="1" dirty="0">
                <a:solidFill>
                  <a:srgbClr val="23222B"/>
                </a:solidFill>
                <a:latin typeface="Calibri" panose="020F0502020204030204" pitchFamily="34" charset="0"/>
                <a:ea typeface="Calibri" panose="020F0502020204030204" pitchFamily="34" charset="-122"/>
                <a:cs typeface="Calibri" panose="020F0502020204030204" pitchFamily="34" charset="-120"/>
              </a:rPr>
              <a:t>Normal</a:t>
            </a:r>
            <a:endParaRPr lang="en-US" sz="1450" dirty="0"/>
          </a:p>
        </p:txBody>
      </p:sp>
      <p:sp>
        <p:nvSpPr>
          <p:cNvPr id="28" name="Text 26"/>
          <p:cNvSpPr/>
          <p:nvPr/>
        </p:nvSpPr>
        <p:spPr>
          <a:xfrm>
            <a:off x="5029200" y="5276088"/>
            <a:ext cx="6309360" cy="548640"/>
          </a:xfrm>
          <a:prstGeom prst="rect">
            <a:avLst/>
          </a:prstGeom>
          <a:noFill/>
        </p:spPr>
        <p:txBody>
          <a:bodyPr wrap="square" rtlCol="0" anchor="ctr"/>
          <a:lstStyle/>
          <a:p>
            <a:pPr marL="0" indent="0">
              <a:buNone/>
            </a:pPr>
            <a:r>
              <a:rPr lang="en-US" sz="1200" dirty="0">
                <a:solidFill>
                  <a:srgbClr val="615F73"/>
                </a:solidFill>
                <a:latin typeface="Calibri" panose="020F0502020204030204" pitchFamily="34" charset="0"/>
                <a:ea typeface="Calibri" panose="020F0502020204030204" pitchFamily="34" charset="-122"/>
                <a:cs typeface="Calibri" panose="020F0502020204030204" pitchFamily="34" charset="-120"/>
              </a:rPr>
              <a:t>Healthy brain tissue — control group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p:spPr>
        <p:txBody>
          <a:bodyPr wrap="square" rtlCol="0" anchor="ctr"/>
          <a:lstStyle/>
          <a:p>
            <a:pPr marL="0" indent="0">
              <a:buNone/>
            </a:pPr>
            <a:r>
              <a:rPr lang="en-US" sz="2800" b="1" dirty="0">
                <a:solidFill>
                  <a:srgbClr val="23222B"/>
                </a:solidFill>
                <a:latin typeface="Cambria" panose="02040503050406030204" pitchFamily="34" charset="0"/>
                <a:ea typeface="Cambria" panose="02040503050406030204" pitchFamily="34" charset="-122"/>
                <a:cs typeface="Cambria" panose="02040503050406030204" pitchFamily="34" charset="-120"/>
              </a:rPr>
              <a:t>The Curse of Dimensionality</a:t>
            </a:r>
            <a:endParaRPr lang="en-US" sz="2800" dirty="0"/>
          </a:p>
        </p:txBody>
      </p:sp>
      <p:sp>
        <p:nvSpPr>
          <p:cNvPr id="3" name="Text 1"/>
          <p:cNvSpPr/>
          <p:nvPr/>
        </p:nvSpPr>
        <p:spPr>
          <a:xfrm>
            <a:off x="640080" y="987552"/>
            <a:ext cx="9144000" cy="365760"/>
          </a:xfrm>
          <a:prstGeom prst="rect">
            <a:avLst/>
          </a:prstGeom>
          <a:noFill/>
        </p:spPr>
        <p:txBody>
          <a:bodyPr wrap="square" rtlCol="0" anchor="ctr"/>
          <a:lstStyle/>
          <a:p>
            <a:pPr marL="0" indent="0">
              <a:buNone/>
            </a:pPr>
            <a:r>
              <a:rPr lang="en-US" sz="1400" i="1" dirty="0">
                <a:solidFill>
                  <a:srgbClr val="615F73"/>
                </a:solidFill>
                <a:latin typeface="Calibri" panose="020F0502020204030204" pitchFamily="34" charset="0"/>
                <a:ea typeface="Calibri" panose="020F0502020204030204" pitchFamily="34" charset="-122"/>
                <a:cs typeface="Calibri" panose="020F0502020204030204" pitchFamily="34" charset="-120"/>
              </a:rPr>
              <a:t>...and how PCA solves it</a:t>
            </a:r>
            <a:endParaRPr lang="en-US" sz="1400" dirty="0"/>
          </a:p>
        </p:txBody>
      </p:sp>
      <p:sp>
        <p:nvSpPr>
          <p:cNvPr id="4" name="Shape 2"/>
          <p:cNvSpPr/>
          <p:nvPr/>
        </p:nvSpPr>
        <p:spPr>
          <a:xfrm>
            <a:off x="735965" y="1468120"/>
            <a:ext cx="4539615" cy="1494155"/>
          </a:xfrm>
          <a:prstGeom prst="roundRect">
            <a:avLst>
              <a:gd name="adj" fmla="val 3636"/>
            </a:avLst>
          </a:prstGeom>
          <a:solidFill>
            <a:srgbClr val="F6E3E6"/>
          </a:solidFill>
        </p:spPr>
      </p:sp>
      <p:sp>
        <p:nvSpPr>
          <p:cNvPr id="5" name="Text 3"/>
          <p:cNvSpPr/>
          <p:nvPr/>
        </p:nvSpPr>
        <p:spPr>
          <a:xfrm>
            <a:off x="914400" y="1549400"/>
            <a:ext cx="4572000" cy="278765"/>
          </a:xfrm>
          <a:prstGeom prst="rect">
            <a:avLst/>
          </a:prstGeom>
          <a:noFill/>
        </p:spPr>
        <p:txBody>
          <a:bodyPr wrap="square" rtlCol="0" anchor="ctr"/>
          <a:lstStyle/>
          <a:p>
            <a:pPr marL="0" indent="0">
              <a:buNone/>
            </a:pPr>
            <a:r>
              <a:rPr lang="en-US" sz="1100" b="1" kern="0" spc="100" dirty="0">
                <a:solidFill>
                  <a:srgbClr val="B5495B"/>
                </a:solidFill>
                <a:latin typeface="Calibri" panose="020F0502020204030204" pitchFamily="34" charset="0"/>
                <a:ea typeface="Calibri" panose="020F0502020204030204" pitchFamily="34" charset="-122"/>
                <a:cs typeface="Calibri" panose="020F0502020204030204" pitchFamily="34" charset="-120"/>
              </a:rPr>
              <a:t>BEFORE  PCA</a:t>
            </a:r>
            <a:endParaRPr lang="en-US" sz="1100" dirty="0"/>
          </a:p>
        </p:txBody>
      </p:sp>
      <p:sp>
        <p:nvSpPr>
          <p:cNvPr id="6" name="Text 4"/>
          <p:cNvSpPr/>
          <p:nvPr/>
        </p:nvSpPr>
        <p:spPr>
          <a:xfrm>
            <a:off x="914400" y="1828165"/>
            <a:ext cx="4572000" cy="822960"/>
          </a:xfrm>
          <a:prstGeom prst="rect">
            <a:avLst/>
          </a:prstGeom>
          <a:noFill/>
        </p:spPr>
        <p:txBody>
          <a:bodyPr wrap="square" rtlCol="0" anchor="ctr"/>
          <a:lstStyle/>
          <a:p>
            <a:pPr marL="0" indent="0">
              <a:buNone/>
            </a:pPr>
            <a:r>
              <a:rPr lang="en-US" sz="4400" b="1" dirty="0">
                <a:solidFill>
                  <a:srgbClr val="B5495B"/>
                </a:solidFill>
                <a:latin typeface="Cambria" panose="02040503050406030204" pitchFamily="34" charset="0"/>
                <a:ea typeface="Cambria" panose="02040503050406030204" pitchFamily="34" charset="-122"/>
                <a:cs typeface="Cambria" panose="02040503050406030204" pitchFamily="34" charset="-120"/>
              </a:rPr>
              <a:t>54,675</a:t>
            </a:r>
            <a:endParaRPr lang="en-US" sz="4400" dirty="0"/>
          </a:p>
        </p:txBody>
      </p:sp>
      <p:sp>
        <p:nvSpPr>
          <p:cNvPr id="7" name="Text 5"/>
          <p:cNvSpPr/>
          <p:nvPr/>
        </p:nvSpPr>
        <p:spPr>
          <a:xfrm>
            <a:off x="735965" y="1993265"/>
            <a:ext cx="4291330" cy="1485265"/>
          </a:xfrm>
          <a:prstGeom prst="rect">
            <a:avLst/>
          </a:prstGeom>
          <a:noFill/>
        </p:spPr>
        <p:txBody>
          <a:bodyPr wrap="square" rtlCol="0" anchor="ctr"/>
          <a:lstStyle/>
          <a:p>
            <a:pPr marL="0" indent="0">
              <a:buNone/>
            </a:pPr>
            <a:r>
              <a:rPr lang="en-US" sz="1200" dirty="0">
                <a:solidFill>
                  <a:srgbClr val="B5495B"/>
                </a:solidFill>
                <a:latin typeface="Calibri" panose="020F0502020204030204" pitchFamily="34" charset="0"/>
                <a:ea typeface="Calibri" panose="020F0502020204030204" pitchFamily="34" charset="-122"/>
                <a:cs typeface="Calibri" panose="020F0502020204030204" pitchFamily="34" charset="-120"/>
              </a:rPr>
              <a:t>gene features per patient — far more features than samples (26). Models overfit and struggle to find real patterns.</a:t>
            </a:r>
            <a:endParaRPr lang="en-US" sz="1200" dirty="0"/>
          </a:p>
        </p:txBody>
      </p:sp>
      <p:pic>
        <p:nvPicPr>
          <p:cNvPr id="8" name="Image 0" descr="preencoded.png"/>
          <p:cNvPicPr>
            <a:picLocks noChangeAspect="1"/>
          </p:cNvPicPr>
          <p:nvPr/>
        </p:nvPicPr>
        <p:blipFill>
          <a:blip r:embed="rId1"/>
          <a:stretch>
            <a:fillRect/>
          </a:stretch>
        </p:blipFill>
        <p:spPr>
          <a:xfrm>
            <a:off x="5838190" y="2377440"/>
            <a:ext cx="365760" cy="365760"/>
          </a:xfrm>
          <a:prstGeom prst="rect">
            <a:avLst/>
          </a:prstGeom>
        </p:spPr>
      </p:pic>
      <p:sp>
        <p:nvSpPr>
          <p:cNvPr id="9" name="Shape 6"/>
          <p:cNvSpPr/>
          <p:nvPr/>
        </p:nvSpPr>
        <p:spPr>
          <a:xfrm>
            <a:off x="6675120" y="1468120"/>
            <a:ext cx="4846320" cy="1536700"/>
          </a:xfrm>
          <a:prstGeom prst="roundRect">
            <a:avLst>
              <a:gd name="adj" fmla="val 3636"/>
            </a:avLst>
          </a:prstGeom>
          <a:solidFill>
            <a:srgbClr val="DCEFEC"/>
          </a:solidFill>
        </p:spPr>
      </p:sp>
      <p:sp>
        <p:nvSpPr>
          <p:cNvPr id="10" name="Text 7"/>
          <p:cNvSpPr/>
          <p:nvPr/>
        </p:nvSpPr>
        <p:spPr>
          <a:xfrm>
            <a:off x="6766560" y="1545590"/>
            <a:ext cx="4572000" cy="274320"/>
          </a:xfrm>
          <a:prstGeom prst="rect">
            <a:avLst/>
          </a:prstGeom>
          <a:noFill/>
        </p:spPr>
        <p:txBody>
          <a:bodyPr wrap="square" rtlCol="0" anchor="ctr"/>
          <a:lstStyle/>
          <a:p>
            <a:pPr marL="0" indent="0">
              <a:buNone/>
            </a:pPr>
            <a:r>
              <a:rPr lang="en-US" sz="1100" b="1" kern="0" spc="100" dirty="0">
                <a:solidFill>
                  <a:srgbClr val="1B7A6E"/>
                </a:solidFill>
                <a:latin typeface="Calibri" panose="020F0502020204030204" pitchFamily="34" charset="0"/>
                <a:ea typeface="Calibri" panose="020F0502020204030204" pitchFamily="34" charset="-122"/>
                <a:cs typeface="Calibri" panose="020F0502020204030204" pitchFamily="34" charset="-120"/>
              </a:rPr>
              <a:t>AFTER  PCA</a:t>
            </a:r>
            <a:endParaRPr lang="en-US" sz="1100" dirty="0"/>
          </a:p>
        </p:txBody>
      </p:sp>
      <p:sp>
        <p:nvSpPr>
          <p:cNvPr id="11" name="Text 8"/>
          <p:cNvSpPr/>
          <p:nvPr/>
        </p:nvSpPr>
        <p:spPr>
          <a:xfrm>
            <a:off x="6766560" y="1820545"/>
            <a:ext cx="4572000" cy="840740"/>
          </a:xfrm>
          <a:prstGeom prst="rect">
            <a:avLst/>
          </a:prstGeom>
          <a:noFill/>
        </p:spPr>
        <p:txBody>
          <a:bodyPr wrap="square" rtlCol="0" anchor="ctr"/>
          <a:lstStyle/>
          <a:p>
            <a:pPr marL="0" indent="0">
              <a:buNone/>
            </a:pPr>
            <a:r>
              <a:rPr lang="en-US" sz="4400" b="1" dirty="0">
                <a:solidFill>
                  <a:srgbClr val="1B7A6E"/>
                </a:solidFill>
                <a:latin typeface="Cambria" panose="02040503050406030204" pitchFamily="34" charset="0"/>
                <a:ea typeface="Cambria" panose="02040503050406030204" pitchFamily="34" charset="-122"/>
                <a:cs typeface="Cambria" panose="02040503050406030204" pitchFamily="34" charset="-120"/>
              </a:rPr>
              <a:t>50</a:t>
            </a:r>
            <a:endParaRPr lang="en-US" sz="4400" dirty="0"/>
          </a:p>
        </p:txBody>
      </p:sp>
      <p:sp>
        <p:nvSpPr>
          <p:cNvPr id="12" name="Text 9"/>
          <p:cNvSpPr/>
          <p:nvPr/>
        </p:nvSpPr>
        <p:spPr>
          <a:xfrm>
            <a:off x="6766560" y="2011680"/>
            <a:ext cx="4572000" cy="1463040"/>
          </a:xfrm>
          <a:prstGeom prst="rect">
            <a:avLst/>
          </a:prstGeom>
          <a:noFill/>
        </p:spPr>
        <p:txBody>
          <a:bodyPr wrap="square" rtlCol="0" anchor="ctr"/>
          <a:lstStyle/>
          <a:p>
            <a:pPr marL="0" indent="0">
              <a:buNone/>
            </a:pPr>
            <a:r>
              <a:rPr lang="en-US" sz="1200" dirty="0">
                <a:solidFill>
                  <a:srgbClr val="1B7A6E"/>
                </a:solidFill>
                <a:latin typeface="Calibri" panose="020F0502020204030204" pitchFamily="34" charset="0"/>
                <a:ea typeface="Calibri" panose="020F0502020204030204" pitchFamily="34" charset="-122"/>
                <a:cs typeface="Calibri" panose="020F0502020204030204" pitchFamily="34" charset="-120"/>
              </a:rPr>
              <a:t>principal components, capturing 87.1% of the original variance. Same information, far less noise.</a:t>
            </a:r>
            <a:endParaRPr lang="en-US" sz="1200" dirty="0"/>
          </a:p>
        </p:txBody>
      </p:sp>
      <p:sp>
        <p:nvSpPr>
          <p:cNvPr id="13" name="Text 10"/>
          <p:cNvSpPr/>
          <p:nvPr/>
        </p:nvSpPr>
        <p:spPr>
          <a:xfrm>
            <a:off x="640080" y="3126105"/>
            <a:ext cx="10881360" cy="676275"/>
          </a:xfrm>
          <a:prstGeom prst="rect">
            <a:avLst/>
          </a:prstGeom>
          <a:noFill/>
        </p:spPr>
        <p:txBody>
          <a:bodyPr wrap="square" rtlCol="0" anchor="ctr"/>
          <a:lstStyle/>
          <a:p>
            <a:pPr marL="0" indent="0">
              <a:buNone/>
            </a:pPr>
            <a:r>
              <a:rPr lang="en-US" sz="1300" i="1" dirty="0">
                <a:solidFill>
                  <a:srgbClr val="615F73"/>
                </a:solidFill>
                <a:latin typeface="Calibri" panose="020F0502020204030204" pitchFamily="34" charset="0"/>
                <a:ea typeface="Calibri" panose="020F0502020204030204" pitchFamily="34" charset="-122"/>
                <a:cs typeface="Calibri" panose="020F0502020204030204" pitchFamily="34" charset="-120"/>
              </a:rPr>
              <a:t>PCA finds the directions in the data with the most variation and compresses thousands of genes into a handful of “super-features” — without losing the patterns that matter.</a:t>
            </a:r>
            <a:endParaRPr lang="en-US" sz="1300" dirty="0"/>
          </a:p>
        </p:txBody>
      </p:sp>
      <p:pic>
        <p:nvPicPr>
          <p:cNvPr id="15" name="Picture 14"/>
          <p:cNvPicPr>
            <a:picLocks noChangeAspect="1"/>
          </p:cNvPicPr>
          <p:nvPr/>
        </p:nvPicPr>
        <p:blipFill>
          <a:blip r:embed="rId2"/>
          <a:stretch>
            <a:fillRect/>
          </a:stretch>
        </p:blipFill>
        <p:spPr>
          <a:xfrm>
            <a:off x="2049780" y="3540760"/>
            <a:ext cx="8093075" cy="31667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p:spPr>
        <p:txBody>
          <a:bodyPr wrap="square" rtlCol="0" anchor="ctr"/>
          <a:lstStyle/>
          <a:p>
            <a:pPr marL="0" indent="0">
              <a:buNone/>
            </a:pPr>
            <a:r>
              <a:rPr lang="en-US" sz="2600" b="1" dirty="0">
                <a:solidFill>
                  <a:srgbClr val="23222B"/>
                </a:solidFill>
                <a:latin typeface="Cambria" panose="02040503050406030204" pitchFamily="34" charset="0"/>
                <a:ea typeface="Cambria" panose="02040503050406030204" pitchFamily="34" charset="-122"/>
                <a:cs typeface="Cambria" panose="02040503050406030204" pitchFamily="34" charset="-120"/>
              </a:rPr>
              <a:t>Do Tumor Types Separate in Gene-Expression Space?</a:t>
            </a:r>
            <a:endParaRPr lang="en-US" sz="2600" dirty="0"/>
          </a:p>
        </p:txBody>
      </p:sp>
      <p:sp>
        <p:nvSpPr>
          <p:cNvPr id="3" name="Text 1"/>
          <p:cNvSpPr/>
          <p:nvPr/>
        </p:nvSpPr>
        <p:spPr>
          <a:xfrm>
            <a:off x="640080" y="987552"/>
            <a:ext cx="9144000" cy="365760"/>
          </a:xfrm>
          <a:prstGeom prst="rect">
            <a:avLst/>
          </a:prstGeom>
          <a:noFill/>
        </p:spPr>
        <p:txBody>
          <a:bodyPr wrap="square" rtlCol="0" anchor="ctr"/>
          <a:lstStyle/>
          <a:p>
            <a:pPr marL="0" indent="0">
              <a:buNone/>
            </a:pPr>
            <a:r>
              <a:rPr lang="en-US" sz="1350" i="1" dirty="0">
                <a:solidFill>
                  <a:srgbClr val="615F73"/>
                </a:solidFill>
                <a:latin typeface="Calibri" panose="020F0502020204030204" pitchFamily="34" charset="0"/>
                <a:ea typeface="Calibri" panose="020F0502020204030204" pitchFamily="34" charset="-122"/>
                <a:cs typeface="Calibri" panose="020F0502020204030204" pitchFamily="34" charset="-120"/>
              </a:rPr>
              <a:t>First 2 principal components, colored by tumor type</a:t>
            </a:r>
            <a:endParaRPr lang="en-US" sz="1350" dirty="0"/>
          </a:p>
        </p:txBody>
      </p:sp>
      <p:pic>
        <p:nvPicPr>
          <p:cNvPr id="4" name="Image 0" descr="/home/claude/pca_scatter.png"/>
          <p:cNvPicPr>
            <a:picLocks noChangeAspect="1"/>
          </p:cNvPicPr>
          <p:nvPr/>
        </p:nvPicPr>
        <p:blipFill>
          <a:blip r:embed="rId1"/>
          <a:stretch>
            <a:fillRect/>
          </a:stretch>
        </p:blipFill>
        <p:spPr>
          <a:xfrm>
            <a:off x="2286000" y="1463040"/>
            <a:ext cx="7589520" cy="5074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D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How Random Forest Decides</a:t>
            </a:r>
            <a:endParaRPr lang="en-US" sz="3000" dirty="0"/>
          </a:p>
        </p:txBody>
      </p:sp>
      <p:sp>
        <p:nvSpPr>
          <p:cNvPr id="3" name="Shape 1"/>
          <p:cNvSpPr/>
          <p:nvPr/>
        </p:nvSpPr>
        <p:spPr>
          <a:xfrm>
            <a:off x="640080" y="1554480"/>
            <a:ext cx="1005840" cy="1005840"/>
          </a:xfrm>
          <a:prstGeom prst="ellipse">
            <a:avLst/>
          </a:prstGeom>
          <a:solidFill>
            <a:srgbClr val="362655"/>
          </a:solidFill>
        </p:spPr>
      </p:sp>
      <p:sp>
        <p:nvSpPr>
          <p:cNvPr id="4" name="Text 2"/>
          <p:cNvSpPr/>
          <p:nvPr/>
        </p:nvSpPr>
        <p:spPr>
          <a:xfrm>
            <a:off x="640080" y="1554480"/>
            <a:ext cx="1005840" cy="1005840"/>
          </a:xfrm>
          <a:prstGeom prst="rect">
            <a:avLst/>
          </a:prstGeom>
          <a:noFill/>
        </p:spPr>
        <p:txBody>
          <a:bodyPr wrap="square" rtlCol="0" anchor="ctr"/>
          <a:lstStyle/>
          <a:p>
            <a:pPr marL="0" indent="0" algn="ctr">
              <a:buNone/>
            </a:pPr>
            <a:r>
              <a:rPr lang="en-US" sz="2800" b="1" dirty="0">
                <a:solidFill>
                  <a:srgbClr val="D98E2A"/>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Text 3"/>
          <p:cNvSpPr/>
          <p:nvPr/>
        </p:nvSpPr>
        <p:spPr>
          <a:xfrm>
            <a:off x="1920240" y="1691640"/>
            <a:ext cx="8046720" cy="777240"/>
          </a:xfrm>
          <a:prstGeom prst="rect">
            <a:avLst/>
          </a:prstGeom>
          <a:noFill/>
        </p:spPr>
        <p:txBody>
          <a:bodyPr wrap="square" rtlCol="0" anchor="ctr"/>
          <a:lstStyle/>
          <a:p>
            <a:pPr marL="0" indent="0">
              <a:lnSpc>
                <a:spcPct val="120000"/>
              </a:lnSpc>
              <a:buNone/>
            </a:pPr>
            <a:r>
              <a:rPr lang="en-US" alt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Iterative Learning</a:t>
            </a: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rPr>
              <a:t>sequential decision trees are built one after the other. Instead of working independently, each new tree is grown specifically to correct the classification mistakes made by its predecessor.</a:t>
            </a:r>
            <a:endPar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2971800"/>
            <a:ext cx="1005840" cy="1005840"/>
          </a:xfrm>
          <a:prstGeom prst="ellipse">
            <a:avLst/>
          </a:prstGeom>
          <a:solidFill>
            <a:srgbClr val="362655"/>
          </a:solidFill>
        </p:spPr>
      </p:sp>
      <p:sp>
        <p:nvSpPr>
          <p:cNvPr id="7" name="Text 5"/>
          <p:cNvSpPr/>
          <p:nvPr/>
        </p:nvSpPr>
        <p:spPr>
          <a:xfrm>
            <a:off x="640080" y="2971800"/>
            <a:ext cx="1005840" cy="1005840"/>
          </a:xfrm>
          <a:prstGeom prst="rect">
            <a:avLst/>
          </a:prstGeom>
          <a:noFill/>
        </p:spPr>
        <p:txBody>
          <a:bodyPr wrap="square" rtlCol="0" anchor="ctr"/>
          <a:lstStyle/>
          <a:p>
            <a:pPr marL="0" indent="0" algn="ctr">
              <a:buNone/>
            </a:pPr>
            <a:r>
              <a:rPr lang="en-US" sz="2800" b="1" dirty="0">
                <a:solidFill>
                  <a:srgbClr val="D98E2A"/>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8" name="Text 6"/>
          <p:cNvSpPr/>
          <p:nvPr/>
        </p:nvSpPr>
        <p:spPr>
          <a:xfrm>
            <a:off x="1920240" y="3108960"/>
            <a:ext cx="8046720" cy="777240"/>
          </a:xfrm>
          <a:prstGeom prst="rect">
            <a:avLst/>
          </a:prstGeom>
          <a:noFill/>
        </p:spPr>
        <p:txBody>
          <a:bodyPr wrap="square" rtlCol="0" anchor="ctr"/>
          <a:lstStyle/>
          <a:p>
            <a:pPr marL="0" indent="0">
              <a:lnSpc>
                <a:spcPct val="120000"/>
              </a:lnSpc>
              <a:buNone/>
            </a:pPr>
            <a:r>
              <a:rPr lang="en-US" alt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Gradient Optimization</a:t>
            </a: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rPr>
              <a:t>the algorithm calculates the residual errors (like the missed Medulloblastoma cases) from the previous step. It minimizes these errors using gradient descent optimization, making it incredibly precise</a:t>
            </a:r>
            <a:endPar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640080" y="4389120"/>
            <a:ext cx="1005840" cy="1005840"/>
          </a:xfrm>
          <a:prstGeom prst="ellipse">
            <a:avLst/>
          </a:prstGeom>
          <a:solidFill>
            <a:srgbClr val="362655"/>
          </a:solidFill>
        </p:spPr>
      </p:sp>
      <p:sp>
        <p:nvSpPr>
          <p:cNvPr id="10" name="Text 8"/>
          <p:cNvSpPr/>
          <p:nvPr/>
        </p:nvSpPr>
        <p:spPr>
          <a:xfrm>
            <a:off x="640080" y="4389120"/>
            <a:ext cx="1005840" cy="1005840"/>
          </a:xfrm>
          <a:prstGeom prst="rect">
            <a:avLst/>
          </a:prstGeom>
          <a:noFill/>
        </p:spPr>
        <p:txBody>
          <a:bodyPr wrap="square" rtlCol="0" anchor="ctr"/>
          <a:lstStyle/>
          <a:p>
            <a:pPr marL="0" indent="0" algn="ctr">
              <a:buNone/>
            </a:pPr>
            <a:r>
              <a:rPr lang="en-US" sz="2800" b="1" dirty="0">
                <a:solidFill>
                  <a:srgbClr val="D98E2A"/>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1" name="Text 9"/>
          <p:cNvSpPr/>
          <p:nvPr/>
        </p:nvSpPr>
        <p:spPr>
          <a:xfrm>
            <a:off x="1920240" y="4526280"/>
            <a:ext cx="8046720" cy="777240"/>
          </a:xfrm>
          <a:prstGeom prst="rect">
            <a:avLst/>
          </a:prstGeom>
          <a:noFill/>
        </p:spPr>
        <p:txBody>
          <a:bodyPr wrap="square" rtlCol="0" anchor="ctr"/>
          <a:lstStyle/>
          <a:p>
            <a:pPr marL="0" indent="0">
              <a:lnSpc>
                <a:spcPct val="120000"/>
              </a:lnSpc>
              <a:buNone/>
            </a:pPr>
            <a:r>
              <a:rPr lang="en-US" alt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Weighted Combination</a:t>
            </a: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rPr>
              <a:t>unlike a simple majority vote, the final prediction is a mathematically weighted sum of all trees. Trees that are highly confident and highly accurate carry more weight in the final diagnostic decision.</a:t>
            </a:r>
            <a:endParaRPr lang="en-US" altLang="en-US" sz="1400" dirty="0">
              <a:solidFill>
                <a:srgbClr val="DCD3EE"/>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640080" y="5897880"/>
            <a:ext cx="10881360" cy="548640"/>
          </a:xfrm>
          <a:prstGeom prst="rect">
            <a:avLst/>
          </a:prstGeom>
          <a:noFill/>
        </p:spPr>
        <p:txBody>
          <a:bodyPr wrap="square" rtlCol="0" anchor="ctr"/>
          <a:lstStyle/>
          <a:p>
            <a:pPr marL="0" indent="0">
              <a:buNone/>
            </a:pPr>
            <a:r>
              <a:rPr lang="en-US" sz="1250" i="1" dirty="0">
                <a:solidFill>
                  <a:srgbClr val="B8ADD1"/>
                </a:solidFill>
                <a:latin typeface="Calibri" panose="020F0502020204030204" pitchFamily="34" charset="0"/>
                <a:ea typeface="Calibri" panose="020F0502020204030204" pitchFamily="34" charset="-122"/>
                <a:cs typeface="Calibri" panose="020F0502020204030204" pitchFamily="34" charset="-120"/>
              </a:rPr>
              <a:t>class_weight = ‘balanced’ — compensates for unequal class sizes (46 ependymoma vs only 13 normal samples) so rare tumor types aren’t ignored.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502920"/>
          </a:xfrm>
          <a:prstGeom prst="rect">
            <a:avLst/>
          </a:prstGeom>
          <a:noFill/>
        </p:spPr>
        <p:txBody>
          <a:bodyPr wrap="square" rtlCol="0" anchor="ctr"/>
          <a:lstStyle/>
          <a:p>
            <a:pPr marL="0" indent="0">
              <a:buNone/>
            </a:pPr>
            <a:r>
              <a:rPr lang="en-US" sz="2800" b="1" dirty="0">
                <a:solidFill>
                  <a:srgbClr val="23222B"/>
                </a:solidFill>
                <a:latin typeface="Cambria" panose="02040503050406030204" pitchFamily="34" charset="0"/>
                <a:ea typeface="Cambria" panose="02040503050406030204" pitchFamily="34" charset="-122"/>
                <a:cs typeface="Cambria" panose="02040503050406030204" pitchFamily="34" charset="-120"/>
              </a:rPr>
              <a:t>Results</a:t>
            </a:r>
            <a:endParaRPr lang="en-US" sz="2800" dirty="0"/>
          </a:p>
        </p:txBody>
      </p:sp>
      <p:sp>
        <p:nvSpPr>
          <p:cNvPr id="3" name="Shape 1"/>
          <p:cNvSpPr/>
          <p:nvPr/>
        </p:nvSpPr>
        <p:spPr>
          <a:xfrm>
            <a:off x="640080" y="1097280"/>
            <a:ext cx="3108960" cy="5349240"/>
          </a:xfrm>
          <a:prstGeom prst="roundRect">
            <a:avLst>
              <a:gd name="adj" fmla="val 2353"/>
            </a:avLst>
          </a:prstGeom>
          <a:solidFill>
            <a:srgbClr val="5B3A8E"/>
          </a:solidFill>
        </p:spPr>
      </p:sp>
      <p:sp>
        <p:nvSpPr>
          <p:cNvPr id="4" name="Text 2"/>
          <p:cNvSpPr/>
          <p:nvPr/>
        </p:nvSpPr>
        <p:spPr>
          <a:xfrm>
            <a:off x="914400" y="1371600"/>
            <a:ext cx="2560320" cy="274320"/>
          </a:xfrm>
          <a:prstGeom prst="rect">
            <a:avLst/>
          </a:prstGeom>
          <a:noFill/>
        </p:spPr>
        <p:txBody>
          <a:bodyPr wrap="square" rtlCol="0" anchor="ctr"/>
          <a:lstStyle/>
          <a:p>
            <a:pPr marL="0" indent="0">
              <a:buNone/>
            </a:pPr>
            <a:r>
              <a:rPr lang="en-US" sz="1100" b="1" kern="0" spc="100" dirty="0">
                <a:solidFill>
                  <a:srgbClr val="D9CFEF"/>
                </a:solidFill>
                <a:latin typeface="Calibri" panose="020F0502020204030204" pitchFamily="34" charset="0"/>
                <a:ea typeface="Calibri" panose="020F0502020204030204" pitchFamily="34" charset="-122"/>
                <a:cs typeface="Calibri" panose="020F0502020204030204" pitchFamily="34" charset="-120"/>
              </a:rPr>
              <a:t>OVERALL ACCURACY</a:t>
            </a:r>
            <a:endParaRPr lang="en-US" sz="1100" dirty="0"/>
          </a:p>
        </p:txBody>
      </p:sp>
      <p:sp>
        <p:nvSpPr>
          <p:cNvPr id="5" name="Text 3"/>
          <p:cNvSpPr/>
          <p:nvPr/>
        </p:nvSpPr>
        <p:spPr>
          <a:xfrm>
            <a:off x="914400" y="1664208"/>
            <a:ext cx="2560320" cy="914400"/>
          </a:xfrm>
          <a:prstGeom prst="rect">
            <a:avLst/>
          </a:prstGeom>
          <a:noFill/>
        </p:spPr>
        <p:txBody>
          <a:bodyPr wrap="square" rtlCol="0" anchor="ctr"/>
          <a:lstStyle/>
          <a:p>
            <a:pPr marL="0" indent="0">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88.46%</a:t>
            </a:r>
            <a:endParaRPr lang="en-US" sz="3800" dirty="0"/>
          </a:p>
        </p:txBody>
      </p:sp>
      <p:sp>
        <p:nvSpPr>
          <p:cNvPr id="6" name="Text 4"/>
          <p:cNvSpPr/>
          <p:nvPr/>
        </p:nvSpPr>
        <p:spPr>
          <a:xfrm>
            <a:off x="914400" y="2606040"/>
            <a:ext cx="2560320" cy="777240"/>
          </a:xfrm>
          <a:prstGeom prst="rect">
            <a:avLst/>
          </a:prstGeom>
          <a:noFill/>
        </p:spPr>
        <p:txBody>
          <a:bodyPr wrap="square" rtlCol="0" anchor="ctr"/>
          <a:lstStyle/>
          <a:p>
            <a:pPr marL="0" indent="0">
              <a:buNone/>
            </a:pPr>
            <a:r>
              <a:rPr lang="en-US" sz="1100" dirty="0">
                <a:solidFill>
                  <a:srgbClr val="D9CFEF"/>
                </a:solidFill>
                <a:latin typeface="Calibri" panose="020F0502020204030204" pitchFamily="34" charset="0"/>
                <a:ea typeface="Calibri" panose="020F0502020204030204" pitchFamily="34" charset="-122"/>
                <a:cs typeface="Calibri" panose="020F0502020204030204" pitchFamily="34" charset="-120"/>
              </a:rPr>
              <a:t>on held-out test patients (26 patients the model never saw during training)</a:t>
            </a:r>
            <a:endParaRPr lang="en-US" sz="1100" dirty="0"/>
          </a:p>
        </p:txBody>
      </p:sp>
      <p:sp>
        <p:nvSpPr>
          <p:cNvPr id="7" name="Shape 5"/>
          <p:cNvSpPr/>
          <p:nvPr/>
        </p:nvSpPr>
        <p:spPr>
          <a:xfrm>
            <a:off x="914400" y="3520440"/>
            <a:ext cx="2560320" cy="0"/>
          </a:xfrm>
          <a:prstGeom prst="line">
            <a:avLst/>
          </a:prstGeom>
          <a:noFill/>
          <a:ln w="12700">
            <a:solidFill>
              <a:srgbClr val="7656A8"/>
            </a:solidFill>
            <a:prstDash val="solid"/>
          </a:ln>
        </p:spPr>
      </p:sp>
      <p:sp>
        <p:nvSpPr>
          <p:cNvPr id="8" name="Text 6"/>
          <p:cNvSpPr/>
          <p:nvPr/>
        </p:nvSpPr>
        <p:spPr>
          <a:xfrm>
            <a:off x="914400" y="3703320"/>
            <a:ext cx="2560320" cy="548640"/>
          </a:xfrm>
          <a:prstGeom prst="rect">
            <a:avLst/>
          </a:prstGeom>
          <a:noFill/>
        </p:spPr>
        <p:txBody>
          <a:bodyPr wrap="square" rtlCol="0" anchor="ctr"/>
          <a:lstStyle/>
          <a:p>
            <a:pPr marL="0" indent="0">
              <a:buNone/>
            </a:pPr>
            <a:r>
              <a:rPr lang="en-US" sz="1050" dirty="0">
                <a:solidFill>
                  <a:srgbClr val="C9BEE0"/>
                </a:solidFill>
                <a:latin typeface="Calibri" panose="020F0502020204030204" pitchFamily="34" charset="0"/>
                <a:ea typeface="Calibri" panose="020F0502020204030204" pitchFamily="34" charset="-122"/>
                <a:cs typeface="Calibri" panose="020F0502020204030204" pitchFamily="34" charset="-120"/>
              </a:rPr>
              <a:t>Train / test split: 104 / 26 patients (80/20, stratified)</a:t>
            </a:r>
            <a:endParaRPr lang="en-US" sz="1050" dirty="0"/>
          </a:p>
        </p:txBody>
      </p:sp>
      <p:sp>
        <p:nvSpPr>
          <p:cNvPr id="9" name="Text 7"/>
          <p:cNvSpPr/>
          <p:nvPr/>
        </p:nvSpPr>
        <p:spPr>
          <a:xfrm>
            <a:off x="914400" y="4297680"/>
            <a:ext cx="2560320" cy="548640"/>
          </a:xfrm>
          <a:prstGeom prst="rect">
            <a:avLst/>
          </a:prstGeom>
          <a:noFill/>
        </p:spPr>
        <p:txBody>
          <a:bodyPr wrap="square" rtlCol="0" anchor="ctr"/>
          <a:lstStyle/>
          <a:p>
            <a:pPr marL="0" indent="0">
              <a:buNone/>
            </a:pPr>
            <a:r>
              <a:rPr lang="en-US" sz="1050" dirty="0">
                <a:solidFill>
                  <a:srgbClr val="C9BEE0"/>
                </a:solidFill>
                <a:latin typeface="Calibri" panose="020F0502020204030204" pitchFamily="34" charset="0"/>
                <a:ea typeface="Calibri" panose="020F0502020204030204" pitchFamily="34" charset="-122"/>
                <a:cs typeface="Calibri" panose="020F0502020204030204" pitchFamily="34" charset="-120"/>
              </a:rPr>
              <a:t>50 PCA components used as input features</a:t>
            </a:r>
            <a:endParaRPr lang="en-US" sz="1050" dirty="0"/>
          </a:p>
        </p:txBody>
      </p:sp>
      <p:sp>
        <p:nvSpPr>
          <p:cNvPr id="10" name="Text 8"/>
          <p:cNvSpPr/>
          <p:nvPr/>
        </p:nvSpPr>
        <p:spPr>
          <a:xfrm>
            <a:off x="914400" y="4892040"/>
            <a:ext cx="2560320" cy="548640"/>
          </a:xfrm>
          <a:prstGeom prst="rect">
            <a:avLst/>
          </a:prstGeom>
          <a:noFill/>
        </p:spPr>
        <p:txBody>
          <a:bodyPr wrap="square" rtlCol="0" anchor="ctr"/>
          <a:lstStyle/>
          <a:p>
            <a:pPr marL="0" indent="0">
              <a:buNone/>
            </a:pPr>
            <a:r>
              <a:rPr lang="en-US" altLang="en-US" sz="1050" dirty="0">
                <a:solidFill>
                  <a:srgbClr val="C9BEE0"/>
                </a:solidFill>
                <a:latin typeface="Calibri" panose="020F0502020204030204" pitchFamily="34" charset="0"/>
                <a:ea typeface="Calibri" panose="020F0502020204030204" pitchFamily="34" charset="-122"/>
                <a:cs typeface="Calibri" panose="020F0502020204030204" pitchFamily="34" charset="-120"/>
              </a:rPr>
              <a:t>100-tree XGBoost with Sample Weight Balancing</a:t>
            </a:r>
            <a:endParaRPr lang="en-US" altLang="en-US" sz="1050" dirty="0">
              <a:solidFill>
                <a:srgbClr val="C9BEE0"/>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1" name="Table 0"/>
          <p:cNvGraphicFramePr>
            <a:graphicFrameLocks noGrp="1"/>
          </p:cNvGraphicFramePr>
          <p:nvPr/>
        </p:nvGraphicFramePr>
        <p:xfrm>
          <a:off x="4023360" y="1097280"/>
          <a:ext cx="7498080" cy="2304288"/>
        </p:xfrm>
        <a:graphic>
          <a:graphicData uri="http://schemas.openxmlformats.org/drawingml/2006/table">
            <a:tbl>
              <a:tblPr/>
              <a:tblGrid>
                <a:gridCol w="2377440"/>
                <a:gridCol w="1280160"/>
                <a:gridCol w="1280160"/>
                <a:gridCol w="1280160"/>
                <a:gridCol w="1280160"/>
              </a:tblGrid>
              <a:tr h="384048">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Tumor Type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1A1B2E"/>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Precision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1A1B2E"/>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1A1B2E"/>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F1-Score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1A1B2E"/>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Support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1A1B2E"/>
                    </a:solidFill>
                  </a:tcPr>
                </a:tc>
              </a:tr>
              <a:tr h="384048">
                <a:tc>
                  <a:txBody>
                    <a:bodyPr/>
                    <a:lstStyle/>
                    <a:p>
                      <a:pPr marL="0" indent="0" algn="l">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Ependymoma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0.80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0.89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0.84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r>
              <a:tr h="384048">
                <a:tc>
                  <a:txBody>
                    <a:bodyPr/>
                    <a:lstStyle/>
                    <a:p>
                      <a:pPr marL="0" indent="0" algn="l">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Glioblastoma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r>
              <a:tr h="384048">
                <a:tc>
                  <a:txBody>
                    <a:bodyPr/>
                    <a:lstStyle/>
                    <a:p>
                      <a:pPr marL="0" indent="0" algn="l">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Medulloblastoma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0.50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0.67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r>
              <a:tr h="384048">
                <a:tc>
                  <a:txBody>
                    <a:bodyPr/>
                    <a:lstStyle/>
                    <a:p>
                      <a:pPr marL="0" indent="0" algn="l">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Normal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1EEF8"/>
                    </a:solidFill>
                  </a:tcPr>
                </a:tc>
              </a:tr>
              <a:tr h="384048">
                <a:tc>
                  <a:txBody>
                    <a:bodyPr/>
                    <a:lstStyle/>
                    <a:p>
                      <a:pPr marL="0" indent="0" algn="l">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Pilocytic Astrocytoma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0.75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1.00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0.86</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22B"/>
                          </a:solidFill>
                          <a:latin typeface="Calibri" panose="020F0502020204030204" pitchFamily="34" charset="0"/>
                          <a:ea typeface="Calibri" panose="020F0502020204030204" pitchFamily="34" charset="-122"/>
                          <a:cs typeface="Calibri" panose="020F0502020204030204" pitchFamily="34" charset="-120"/>
                        </a:rPr>
                        <a:t>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CD7E8"/>
                      </a:solidFill>
                      <a:prstDash val="solid"/>
                      <a:round/>
                      <a:headEnd type="none" w="med" len="med"/>
                      <a:tailEnd type="none" w="med" len="med"/>
                    </a:lnL>
                    <a:lnR w="6350" cap="flat" cmpd="sng" algn="ctr">
                      <a:solidFill>
                        <a:srgbClr val="DCD7E8"/>
                      </a:solidFill>
                      <a:prstDash val="solid"/>
                      <a:round/>
                      <a:headEnd type="none" w="med" len="med"/>
                      <a:tailEnd type="none" w="med" len="med"/>
                    </a:lnR>
                    <a:lnT w="6350" cap="flat" cmpd="sng" algn="ctr">
                      <a:solidFill>
                        <a:srgbClr val="DCD7E8"/>
                      </a:solidFill>
                      <a:prstDash val="solid"/>
                      <a:round/>
                      <a:headEnd type="none" w="med" len="med"/>
                      <a:tailEnd type="none" w="med" len="med"/>
                    </a:lnT>
                    <a:lnB w="6350" cap="flat" cmpd="sng" algn="ctr">
                      <a:solidFill>
                        <a:srgbClr val="DCD7E8"/>
                      </a:solidFill>
                      <a:prstDash val="solid"/>
                      <a:round/>
                      <a:headEnd type="none" w="med" len="med"/>
                      <a:tailEnd type="none" w="med" len="med"/>
                    </a:lnB>
                    <a:solidFill>
                      <a:srgbClr val="FFFFFF"/>
                    </a:solidFill>
                  </a:tcPr>
                </a:tc>
              </a:tr>
            </a:tbl>
          </a:graphicData>
        </a:graphic>
      </p:graphicFrame>
      <p:sp>
        <p:nvSpPr>
          <p:cNvPr id="12" name="Text 9"/>
          <p:cNvSpPr/>
          <p:nvPr/>
        </p:nvSpPr>
        <p:spPr>
          <a:xfrm>
            <a:off x="4023360" y="3520440"/>
            <a:ext cx="7498080" cy="502920"/>
          </a:xfrm>
          <a:prstGeom prst="rect">
            <a:avLst/>
          </a:prstGeom>
          <a:noFill/>
        </p:spPr>
        <p:txBody>
          <a:bodyPr wrap="square" rtlCol="0" anchor="ctr"/>
          <a:lstStyle/>
          <a:p>
            <a:pPr marL="0" indent="0">
              <a:buNone/>
            </a:pPr>
            <a:r>
              <a:rPr lang="en-US" sz="1150" i="1" dirty="0">
                <a:solidFill>
                  <a:srgbClr val="615F73"/>
                </a:solidFill>
                <a:latin typeface="Calibri" panose="020F0502020204030204" pitchFamily="34" charset="0"/>
                <a:ea typeface="Calibri" panose="020F0502020204030204" pitchFamily="34" charset="-122"/>
                <a:cs typeface="Calibri" panose="020F0502020204030204" pitchFamily="34" charset="-120"/>
              </a:rPr>
              <a:t>Glioblastoma &amp; Normal classified perfectly. Medulloblastoma’s lower recall reflects its smaller sample size (22 patients total).</a:t>
            </a:r>
            <a:endParaRPr lang="en-US" sz="1150" dirty="0"/>
          </a:p>
        </p:txBody>
      </p:sp>
      <p:pic>
        <p:nvPicPr>
          <p:cNvPr id="13" name="Image 0" descr="/home/claude/confusion_matrix.png"/>
          <p:cNvPicPr>
            <a:picLocks noChangeAspect="1"/>
          </p:cNvPicPr>
          <p:nvPr/>
        </p:nvPicPr>
        <p:blipFill>
          <a:blip r:embed="rId1"/>
          <a:stretch>
            <a:fillRect/>
          </a:stretch>
        </p:blipFill>
        <p:spPr>
          <a:xfrm>
            <a:off x="4692650" y="3947160"/>
            <a:ext cx="6955790" cy="2810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0"/>
          <p:cNvSpPr/>
          <p:nvPr/>
        </p:nvSpPr>
        <p:spPr>
          <a:xfrm>
            <a:off x="640080" y="411480"/>
            <a:ext cx="7315200" cy="502920"/>
          </a:xfrm>
          <a:prstGeom prst="rect">
            <a:avLst/>
          </a:prstGeom>
          <a:noFill/>
        </p:spPr>
        <p:txBody>
          <a:bodyPr wrap="square" rtlCol="0" anchor="ctr"/>
          <a:lstStyle/>
          <a:p>
            <a:pPr marL="0" indent="0">
              <a:buNone/>
            </a:pPr>
            <a:r>
              <a:rPr lang="en-US" altLang="en-US" sz="2800" dirty="0"/>
              <a:t>Model Comparison — Accuracy vs Recall</a:t>
            </a:r>
            <a:endParaRPr lang="en-US" altLang="en-US" sz="2800" dirty="0"/>
          </a:p>
        </p:txBody>
      </p:sp>
      <p:sp>
        <p:nvSpPr>
          <p:cNvPr id="5" name="Shape 1"/>
          <p:cNvSpPr/>
          <p:nvPr/>
        </p:nvSpPr>
        <p:spPr>
          <a:xfrm>
            <a:off x="640080" y="1068705"/>
            <a:ext cx="10762615" cy="5349240"/>
          </a:xfrm>
          <a:prstGeom prst="roundRect">
            <a:avLst>
              <a:gd name="adj" fmla="val 2353"/>
            </a:avLst>
          </a:prstGeom>
          <a:solidFill>
            <a:srgbClr val="5B3A8E"/>
          </a:solidFill>
        </p:spPr>
        <p:txBody>
          <a:bodyPr/>
          <a:p>
            <a:endParaRPr lang="en-US" altLang="en-US">
              <a:solidFill>
                <a:schemeClr val="bg1"/>
              </a:solidFill>
              <a:uFillTx/>
            </a:endParaRPr>
          </a:p>
        </p:txBody>
      </p:sp>
      <p:pic>
        <p:nvPicPr>
          <p:cNvPr id="7" name="Picture 6"/>
          <p:cNvPicPr>
            <a:picLocks noChangeAspect="1"/>
          </p:cNvPicPr>
          <p:nvPr/>
        </p:nvPicPr>
        <p:blipFill>
          <a:blip r:embed="rId1"/>
          <a:stretch>
            <a:fillRect/>
          </a:stretch>
        </p:blipFill>
        <p:spPr>
          <a:xfrm>
            <a:off x="1275715" y="1610995"/>
            <a:ext cx="9443085" cy="4206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B"/>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p:spPr>
        <p:txBody>
          <a:bodyPr wrap="square" rtlCol="0" anchor="ctr"/>
          <a:lstStyle/>
          <a:p>
            <a:pPr marL="0" indent="0">
              <a:buNone/>
            </a:pPr>
            <a:r>
              <a:rPr lang="en-US" sz="3000" b="1" dirty="0">
                <a:solidFill>
                  <a:srgbClr val="23222B"/>
                </a:solidFill>
                <a:latin typeface="Cambria" panose="02040503050406030204" pitchFamily="34" charset="0"/>
                <a:ea typeface="Cambria" panose="02040503050406030204" pitchFamily="34" charset="-122"/>
                <a:cs typeface="Cambria" panose="02040503050406030204" pitchFamily="34" charset="-120"/>
              </a:rPr>
              <a:t>Key Takeaways</a:t>
            </a:r>
            <a:endParaRPr lang="en-US" sz="3000" dirty="0"/>
          </a:p>
        </p:txBody>
      </p:sp>
      <p:sp>
        <p:nvSpPr>
          <p:cNvPr id="3" name="Shape 1"/>
          <p:cNvSpPr/>
          <p:nvPr/>
        </p:nvSpPr>
        <p:spPr>
          <a:xfrm>
            <a:off x="640080" y="1417320"/>
            <a:ext cx="10881360" cy="841248"/>
          </a:xfrm>
          <a:prstGeom prst="roundRect">
            <a:avLst>
              <a:gd name="adj" fmla="val 6522"/>
            </a:avLst>
          </a:prstGeom>
          <a:solidFill>
            <a:srgbClr val="FFFFFF"/>
          </a:solidFill>
          <a:effectLst>
            <a:outerShdw blurRad="76200" dist="12700" dir="5400000" algn="bl" rotWithShape="0">
              <a:srgbClr val="000000">
                <a:alpha val="6000"/>
              </a:srgbClr>
            </a:outerShdw>
          </a:effectLst>
        </p:spPr>
      </p:sp>
      <p:pic>
        <p:nvPicPr>
          <p:cNvPr id="4" name="Image 0" descr="preencoded.png"/>
          <p:cNvPicPr>
            <a:picLocks noChangeAspect="1"/>
          </p:cNvPicPr>
          <p:nvPr/>
        </p:nvPicPr>
        <p:blipFill>
          <a:blip r:embed="rId1"/>
          <a:stretch>
            <a:fillRect/>
          </a:stretch>
        </p:blipFill>
        <p:spPr>
          <a:xfrm>
            <a:off x="914400" y="1655064"/>
            <a:ext cx="365760" cy="365760"/>
          </a:xfrm>
          <a:prstGeom prst="rect">
            <a:avLst/>
          </a:prstGeom>
        </p:spPr>
      </p:pic>
      <p:sp>
        <p:nvSpPr>
          <p:cNvPr id="5" name="Text 2"/>
          <p:cNvSpPr/>
          <p:nvPr/>
        </p:nvSpPr>
        <p:spPr>
          <a:xfrm>
            <a:off x="1508760" y="1508760"/>
            <a:ext cx="9784080" cy="658368"/>
          </a:xfrm>
          <a:prstGeom prst="rect">
            <a:avLst/>
          </a:prstGeom>
          <a:noFill/>
        </p:spPr>
        <p:txBody>
          <a:bodyPr wrap="square" rtlCol="0" anchor="ctr"/>
          <a:lstStyle/>
          <a:p>
            <a:pPr marL="0" indent="0">
              <a:buNone/>
            </a:pPr>
            <a:r>
              <a:rPr lang="en-US" sz="1300" dirty="0">
                <a:solidFill>
                  <a:srgbClr val="23222B"/>
                </a:solidFill>
                <a:latin typeface="Calibri" panose="020F0502020204030204" pitchFamily="34" charset="0"/>
                <a:ea typeface="Calibri" panose="020F0502020204030204" pitchFamily="34" charset="-122"/>
                <a:cs typeface="Calibri" panose="020F0502020204030204" pitchFamily="34" charset="-120"/>
              </a:rPr>
              <a:t>PCA successfully compressed 54,675 genes into 50 components while retaining 87.1% of the original variance.</a:t>
            </a:r>
            <a:endParaRPr lang="en-US" sz="1300" dirty="0"/>
          </a:p>
        </p:txBody>
      </p:sp>
      <p:sp>
        <p:nvSpPr>
          <p:cNvPr id="6" name="Shape 3"/>
          <p:cNvSpPr/>
          <p:nvPr/>
        </p:nvSpPr>
        <p:spPr>
          <a:xfrm>
            <a:off x="640080" y="2404872"/>
            <a:ext cx="10881360" cy="841248"/>
          </a:xfrm>
          <a:prstGeom prst="roundRect">
            <a:avLst>
              <a:gd name="adj" fmla="val 6522"/>
            </a:avLst>
          </a:prstGeom>
          <a:solidFill>
            <a:srgbClr val="FFFFFF"/>
          </a:solidFill>
          <a:effectLst>
            <a:outerShdw blurRad="76200" dist="12700" dir="5400000" algn="bl" rotWithShape="0">
              <a:srgbClr val="000000">
                <a:alpha val="6000"/>
              </a:srgbClr>
            </a:outerShdw>
          </a:effectLst>
        </p:spPr>
      </p:sp>
      <p:pic>
        <p:nvPicPr>
          <p:cNvPr id="7" name="Image 1" descr="preencoded.png"/>
          <p:cNvPicPr>
            <a:picLocks noChangeAspect="1"/>
          </p:cNvPicPr>
          <p:nvPr/>
        </p:nvPicPr>
        <p:blipFill>
          <a:blip r:embed="rId2"/>
          <a:stretch>
            <a:fillRect/>
          </a:stretch>
        </p:blipFill>
        <p:spPr>
          <a:xfrm>
            <a:off x="914400" y="2642616"/>
            <a:ext cx="365760" cy="365760"/>
          </a:xfrm>
          <a:prstGeom prst="rect">
            <a:avLst/>
          </a:prstGeom>
        </p:spPr>
      </p:pic>
      <p:sp>
        <p:nvSpPr>
          <p:cNvPr id="8" name="Text 4"/>
          <p:cNvSpPr/>
          <p:nvPr/>
        </p:nvSpPr>
        <p:spPr>
          <a:xfrm>
            <a:off x="1508760" y="2496312"/>
            <a:ext cx="9784080" cy="658368"/>
          </a:xfrm>
          <a:prstGeom prst="rect">
            <a:avLst/>
          </a:prstGeom>
          <a:noFill/>
        </p:spPr>
        <p:txBody>
          <a:bodyPr wrap="square" rtlCol="0" anchor="ctr"/>
          <a:lstStyle/>
          <a:p>
            <a:pPr marL="0" indent="0">
              <a:buNone/>
            </a:pPr>
            <a:r>
              <a:rPr lang="en-US" sz="1300" dirty="0">
                <a:solidFill>
                  <a:srgbClr val="23222B"/>
                </a:solidFill>
                <a:latin typeface="Calibri" panose="020F0502020204030204" pitchFamily="34" charset="0"/>
                <a:ea typeface="Calibri" panose="020F0502020204030204" pitchFamily="34" charset="-122"/>
                <a:cs typeface="Calibri" panose="020F0502020204030204" pitchFamily="34" charset="-120"/>
              </a:rPr>
              <a:t>Random Forest achieved 88.46% accuracy on unseen patients — strong performance for a 5-class medical classification task.</a:t>
            </a:r>
            <a:endParaRPr lang="en-US" sz="1300" dirty="0"/>
          </a:p>
        </p:txBody>
      </p:sp>
      <p:sp>
        <p:nvSpPr>
          <p:cNvPr id="9" name="Shape 5"/>
          <p:cNvSpPr/>
          <p:nvPr/>
        </p:nvSpPr>
        <p:spPr>
          <a:xfrm>
            <a:off x="640080" y="3392424"/>
            <a:ext cx="10881360" cy="841248"/>
          </a:xfrm>
          <a:prstGeom prst="roundRect">
            <a:avLst>
              <a:gd name="adj" fmla="val 6522"/>
            </a:avLst>
          </a:prstGeom>
          <a:solidFill>
            <a:srgbClr val="FFFFFF"/>
          </a:solidFill>
          <a:effectLst>
            <a:outerShdw blurRad="76200" dist="12700" dir="5400000" algn="bl" rotWithShape="0">
              <a:srgbClr val="000000">
                <a:alpha val="6000"/>
              </a:srgbClr>
            </a:outerShdw>
          </a:effectLst>
        </p:spPr>
      </p:sp>
      <p:pic>
        <p:nvPicPr>
          <p:cNvPr id="10" name="Image 2" descr="preencoded.png"/>
          <p:cNvPicPr>
            <a:picLocks noChangeAspect="1"/>
          </p:cNvPicPr>
          <p:nvPr/>
        </p:nvPicPr>
        <p:blipFill>
          <a:blip r:embed="rId3"/>
          <a:stretch>
            <a:fillRect/>
          </a:stretch>
        </p:blipFill>
        <p:spPr>
          <a:xfrm>
            <a:off x="914400" y="3630168"/>
            <a:ext cx="365760" cy="365760"/>
          </a:xfrm>
          <a:prstGeom prst="rect">
            <a:avLst/>
          </a:prstGeom>
        </p:spPr>
      </p:pic>
      <p:sp>
        <p:nvSpPr>
          <p:cNvPr id="11" name="Text 6"/>
          <p:cNvSpPr/>
          <p:nvPr/>
        </p:nvSpPr>
        <p:spPr>
          <a:xfrm>
            <a:off x="1508760" y="3483864"/>
            <a:ext cx="9784080" cy="658368"/>
          </a:xfrm>
          <a:prstGeom prst="rect">
            <a:avLst/>
          </a:prstGeom>
          <a:noFill/>
        </p:spPr>
        <p:txBody>
          <a:bodyPr wrap="square" rtlCol="0" anchor="ctr"/>
          <a:lstStyle/>
          <a:p>
            <a:pPr marL="0" indent="0">
              <a:buNone/>
            </a:pPr>
            <a:r>
              <a:rPr lang="en-US" sz="1300" dirty="0">
                <a:solidFill>
                  <a:srgbClr val="23222B"/>
                </a:solidFill>
                <a:latin typeface="Calibri" panose="020F0502020204030204" pitchFamily="34" charset="0"/>
                <a:ea typeface="Calibri" panose="020F0502020204030204" pitchFamily="34" charset="-122"/>
                <a:cs typeface="Calibri" panose="020F0502020204030204" pitchFamily="34" charset="-120"/>
              </a:rPr>
              <a:t>Glioblastoma and Normal tissue were classified with perfect precision and recall — the most clinically reliable predictions.</a:t>
            </a:r>
            <a:endParaRPr lang="en-US" sz="1300" dirty="0"/>
          </a:p>
        </p:txBody>
      </p:sp>
      <p:sp>
        <p:nvSpPr>
          <p:cNvPr id="12" name="Shape 7"/>
          <p:cNvSpPr/>
          <p:nvPr/>
        </p:nvSpPr>
        <p:spPr>
          <a:xfrm>
            <a:off x="640080" y="4379976"/>
            <a:ext cx="10881360" cy="841248"/>
          </a:xfrm>
          <a:prstGeom prst="roundRect">
            <a:avLst>
              <a:gd name="adj" fmla="val 6522"/>
            </a:avLst>
          </a:prstGeom>
          <a:solidFill>
            <a:srgbClr val="FFFFFF"/>
          </a:solidFill>
          <a:effectLst>
            <a:outerShdw blurRad="76200" dist="12700" dir="5400000" algn="bl" rotWithShape="0">
              <a:srgbClr val="000000">
                <a:alpha val="6000"/>
              </a:srgbClr>
            </a:outerShdw>
          </a:effectLst>
        </p:spPr>
      </p:sp>
      <p:pic>
        <p:nvPicPr>
          <p:cNvPr id="13" name="Image 3" descr="preencoded.png"/>
          <p:cNvPicPr>
            <a:picLocks noChangeAspect="1"/>
          </p:cNvPicPr>
          <p:nvPr/>
        </p:nvPicPr>
        <p:blipFill>
          <a:blip r:embed="rId4"/>
          <a:stretch>
            <a:fillRect/>
          </a:stretch>
        </p:blipFill>
        <p:spPr>
          <a:xfrm>
            <a:off x="914400" y="4617720"/>
            <a:ext cx="365760" cy="365760"/>
          </a:xfrm>
          <a:prstGeom prst="rect">
            <a:avLst/>
          </a:prstGeom>
        </p:spPr>
      </p:pic>
      <p:sp>
        <p:nvSpPr>
          <p:cNvPr id="14" name="Text 8"/>
          <p:cNvSpPr/>
          <p:nvPr/>
        </p:nvSpPr>
        <p:spPr>
          <a:xfrm>
            <a:off x="1508760" y="4471416"/>
            <a:ext cx="9784080" cy="658368"/>
          </a:xfrm>
          <a:prstGeom prst="rect">
            <a:avLst/>
          </a:prstGeom>
          <a:noFill/>
        </p:spPr>
        <p:txBody>
          <a:bodyPr wrap="square" rtlCol="0" anchor="ctr"/>
          <a:lstStyle/>
          <a:p>
            <a:pPr marL="0" indent="0">
              <a:buNone/>
            </a:pPr>
            <a:r>
              <a:rPr lang="en-US" sz="1300" dirty="0">
                <a:solidFill>
                  <a:srgbClr val="23222B"/>
                </a:solidFill>
                <a:latin typeface="Calibri" panose="020F0502020204030204" pitchFamily="34" charset="0"/>
                <a:ea typeface="Calibri" panose="020F0502020204030204" pitchFamily="34" charset="-122"/>
                <a:cs typeface="Calibri" panose="020F0502020204030204" pitchFamily="34" charset="-120"/>
              </a:rPr>
              <a:t>Smaller classes (Medulloblastoma, Pilocytic Astrocytoma) had lower recall, showing the impact of limited training data per class.</a:t>
            </a:r>
            <a:endParaRPr lang="en-US" sz="1300" dirty="0"/>
          </a:p>
        </p:txBody>
      </p:sp>
      <p:sp>
        <p:nvSpPr>
          <p:cNvPr id="15" name="Shape 9"/>
          <p:cNvSpPr/>
          <p:nvPr/>
        </p:nvSpPr>
        <p:spPr>
          <a:xfrm>
            <a:off x="640080" y="5367528"/>
            <a:ext cx="10881360" cy="841248"/>
          </a:xfrm>
          <a:prstGeom prst="roundRect">
            <a:avLst>
              <a:gd name="adj" fmla="val 6522"/>
            </a:avLst>
          </a:prstGeom>
          <a:solidFill>
            <a:srgbClr val="FFFFFF"/>
          </a:solidFill>
          <a:effectLst>
            <a:outerShdw blurRad="76200" dist="12700" dir="5400000" algn="bl" rotWithShape="0">
              <a:srgbClr val="000000">
                <a:alpha val="6000"/>
              </a:srgbClr>
            </a:outerShdw>
          </a:effectLst>
        </p:spPr>
      </p:sp>
      <p:pic>
        <p:nvPicPr>
          <p:cNvPr id="16" name="Image 4" descr="preencoded.png"/>
          <p:cNvPicPr>
            <a:picLocks noChangeAspect="1"/>
          </p:cNvPicPr>
          <p:nvPr/>
        </p:nvPicPr>
        <p:blipFill>
          <a:blip r:embed="rId5"/>
          <a:stretch>
            <a:fillRect/>
          </a:stretch>
        </p:blipFill>
        <p:spPr>
          <a:xfrm>
            <a:off x="914400" y="5605272"/>
            <a:ext cx="365760" cy="365760"/>
          </a:xfrm>
          <a:prstGeom prst="rect">
            <a:avLst/>
          </a:prstGeom>
        </p:spPr>
      </p:pic>
      <p:sp>
        <p:nvSpPr>
          <p:cNvPr id="17" name="Text 10"/>
          <p:cNvSpPr/>
          <p:nvPr/>
        </p:nvSpPr>
        <p:spPr>
          <a:xfrm>
            <a:off x="1508760" y="5458968"/>
            <a:ext cx="9784080" cy="658368"/>
          </a:xfrm>
          <a:prstGeom prst="rect">
            <a:avLst/>
          </a:prstGeom>
          <a:noFill/>
        </p:spPr>
        <p:txBody>
          <a:bodyPr wrap="square" rtlCol="0" anchor="ctr"/>
          <a:lstStyle/>
          <a:p>
            <a:pPr marL="0" indent="0">
              <a:buNone/>
            </a:pPr>
            <a:r>
              <a:rPr lang="en-US" sz="1300" dirty="0">
                <a:solidFill>
                  <a:srgbClr val="23222B"/>
                </a:solidFill>
                <a:latin typeface="Calibri" panose="020F0502020204030204" pitchFamily="34" charset="0"/>
                <a:ea typeface="Calibri" panose="020F0502020204030204" pitchFamily="34" charset="-122"/>
                <a:cs typeface="Calibri" panose="020F0502020204030204" pitchFamily="34" charset="-120"/>
              </a:rPr>
              <a:t>This shows real potential: gene expression profiling could one day support faster, less invasive tumor classification.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D2761"/>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362655"/>
          </a:solidFill>
        </p:spPr>
      </p:sp>
      <p:sp>
        <p:nvSpPr>
          <p:cNvPr id="3" name="Text 1"/>
          <p:cNvSpPr/>
          <p:nvPr/>
        </p:nvSpPr>
        <p:spPr>
          <a:xfrm>
            <a:off x="640080" y="640080"/>
            <a:ext cx="7315200" cy="54864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What's Next</a:t>
            </a:r>
            <a:endParaRPr lang="en-US" sz="3000" dirty="0"/>
          </a:p>
        </p:txBody>
      </p:sp>
      <p:sp>
        <p:nvSpPr>
          <p:cNvPr id="4" name="Shape 2"/>
          <p:cNvSpPr/>
          <p:nvPr/>
        </p:nvSpPr>
        <p:spPr>
          <a:xfrm>
            <a:off x="640080" y="1554480"/>
            <a:ext cx="3383280" cy="2743200"/>
          </a:xfrm>
          <a:prstGeom prst="roundRect">
            <a:avLst>
              <a:gd name="adj" fmla="val 2667"/>
            </a:avLst>
          </a:prstGeom>
          <a:solidFill>
            <a:srgbClr val="2B1E48"/>
          </a:solidFill>
        </p:spPr>
      </p:sp>
      <p:pic>
        <p:nvPicPr>
          <p:cNvPr id="5" name="Image 0" descr="preencoded.png"/>
          <p:cNvPicPr>
            <a:picLocks noChangeAspect="1"/>
          </p:cNvPicPr>
          <p:nvPr/>
        </p:nvPicPr>
        <p:blipFill>
          <a:blip r:embed="rId1"/>
          <a:stretch>
            <a:fillRect/>
          </a:stretch>
        </p:blipFill>
        <p:spPr>
          <a:xfrm>
            <a:off x="914400" y="1828800"/>
            <a:ext cx="502920" cy="502920"/>
          </a:xfrm>
          <a:prstGeom prst="rect">
            <a:avLst/>
          </a:prstGeom>
        </p:spPr>
      </p:pic>
      <p:sp>
        <p:nvSpPr>
          <p:cNvPr id="6" name="Text 3"/>
          <p:cNvSpPr/>
          <p:nvPr/>
        </p:nvSpPr>
        <p:spPr>
          <a:xfrm>
            <a:off x="914400" y="2468880"/>
            <a:ext cx="2834640" cy="36576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Flask API</a:t>
            </a:r>
            <a:endParaRPr lang="en-US" sz="1500" dirty="0"/>
          </a:p>
        </p:txBody>
      </p:sp>
      <p:sp>
        <p:nvSpPr>
          <p:cNvPr id="7" name="Text 4"/>
          <p:cNvSpPr/>
          <p:nvPr/>
        </p:nvSpPr>
        <p:spPr>
          <a:xfrm>
            <a:off x="914400" y="2880360"/>
            <a:ext cx="2834640" cy="1280160"/>
          </a:xfrm>
          <a:prstGeom prst="rect">
            <a:avLst/>
          </a:prstGeom>
          <a:noFill/>
        </p:spPr>
        <p:txBody>
          <a:bodyPr wrap="square" rtlCol="0" anchor="ctr"/>
          <a:lstStyle/>
          <a:p>
            <a:pPr marL="0" indent="0">
              <a:lnSpc>
                <a:spcPct val="130000"/>
              </a:lnSpc>
              <a:buNone/>
            </a:pPr>
            <a:r>
              <a:rPr lang="en-US" sz="1150" dirty="0">
                <a:solidFill>
                  <a:srgbClr val="C9BEE0"/>
                </a:solidFill>
                <a:latin typeface="Calibri" panose="020F0502020204030204" pitchFamily="34" charset="0"/>
                <a:ea typeface="Calibri" panose="020F0502020204030204" pitchFamily="34" charset="-122"/>
                <a:cs typeface="Calibri" panose="020F0502020204030204" pitchFamily="34" charset="-120"/>
              </a:rPr>
              <a:t>Serve the trained model as a web API for real-time predictions</a:t>
            </a:r>
            <a:endParaRPr lang="en-US" sz="1150" dirty="0"/>
          </a:p>
        </p:txBody>
      </p:sp>
      <p:sp>
        <p:nvSpPr>
          <p:cNvPr id="8" name="Shape 5"/>
          <p:cNvSpPr/>
          <p:nvPr/>
        </p:nvSpPr>
        <p:spPr>
          <a:xfrm>
            <a:off x="4297680" y="1554480"/>
            <a:ext cx="3383280" cy="2743200"/>
          </a:xfrm>
          <a:prstGeom prst="roundRect">
            <a:avLst>
              <a:gd name="adj" fmla="val 2667"/>
            </a:avLst>
          </a:prstGeom>
          <a:solidFill>
            <a:srgbClr val="2B1E48"/>
          </a:solidFill>
        </p:spPr>
      </p:sp>
      <p:pic>
        <p:nvPicPr>
          <p:cNvPr id="9" name="Image 1" descr="preencoded.png"/>
          <p:cNvPicPr>
            <a:picLocks noChangeAspect="1"/>
          </p:cNvPicPr>
          <p:nvPr/>
        </p:nvPicPr>
        <p:blipFill>
          <a:blip r:embed="rId2"/>
          <a:stretch>
            <a:fillRect/>
          </a:stretch>
        </p:blipFill>
        <p:spPr>
          <a:xfrm>
            <a:off x="4572000" y="1828800"/>
            <a:ext cx="502920" cy="502920"/>
          </a:xfrm>
          <a:prstGeom prst="rect">
            <a:avLst/>
          </a:prstGeom>
        </p:spPr>
      </p:pic>
      <p:sp>
        <p:nvSpPr>
          <p:cNvPr id="10" name="Text 6"/>
          <p:cNvSpPr/>
          <p:nvPr/>
        </p:nvSpPr>
        <p:spPr>
          <a:xfrm>
            <a:off x="4572000" y="2468880"/>
            <a:ext cx="2834640" cy="36576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Web Interface</a:t>
            </a:r>
            <a:endParaRPr lang="en-US" sz="1500" dirty="0"/>
          </a:p>
        </p:txBody>
      </p:sp>
      <p:sp>
        <p:nvSpPr>
          <p:cNvPr id="11" name="Text 7"/>
          <p:cNvSpPr/>
          <p:nvPr/>
        </p:nvSpPr>
        <p:spPr>
          <a:xfrm>
            <a:off x="4572000" y="2880360"/>
            <a:ext cx="2834640" cy="1280160"/>
          </a:xfrm>
          <a:prstGeom prst="rect">
            <a:avLst/>
          </a:prstGeom>
          <a:noFill/>
        </p:spPr>
        <p:txBody>
          <a:bodyPr wrap="square" rtlCol="0" anchor="ctr"/>
          <a:lstStyle/>
          <a:p>
            <a:pPr marL="0" indent="0">
              <a:lnSpc>
                <a:spcPct val="130000"/>
              </a:lnSpc>
              <a:buNone/>
            </a:pPr>
            <a:r>
              <a:rPr lang="en-US" sz="1150" dirty="0">
                <a:solidFill>
                  <a:srgbClr val="C9BEE0"/>
                </a:solidFill>
                <a:latin typeface="Calibri" panose="020F0502020204030204" pitchFamily="34" charset="0"/>
                <a:ea typeface="Calibri" panose="020F0502020204030204" pitchFamily="34" charset="-122"/>
                <a:cs typeface="Calibri" panose="020F0502020204030204" pitchFamily="34" charset="-120"/>
              </a:rPr>
              <a:t>Build a simple form where users input gene data and get a prediction</a:t>
            </a:r>
            <a:endParaRPr lang="en-US" sz="1150" dirty="0"/>
          </a:p>
        </p:txBody>
      </p:sp>
      <p:sp>
        <p:nvSpPr>
          <p:cNvPr id="12" name="Shape 8"/>
          <p:cNvSpPr/>
          <p:nvPr/>
        </p:nvSpPr>
        <p:spPr>
          <a:xfrm>
            <a:off x="7955280" y="1554480"/>
            <a:ext cx="3383280" cy="2743200"/>
          </a:xfrm>
          <a:prstGeom prst="roundRect">
            <a:avLst>
              <a:gd name="adj" fmla="val 2667"/>
            </a:avLst>
          </a:prstGeom>
          <a:solidFill>
            <a:srgbClr val="2B1E48"/>
          </a:solidFill>
        </p:spPr>
      </p:sp>
      <p:pic>
        <p:nvPicPr>
          <p:cNvPr id="13" name="Image 2" descr="preencoded.png"/>
          <p:cNvPicPr>
            <a:picLocks noChangeAspect="1"/>
          </p:cNvPicPr>
          <p:nvPr/>
        </p:nvPicPr>
        <p:blipFill>
          <a:blip r:embed="rId3"/>
          <a:stretch>
            <a:fillRect/>
          </a:stretch>
        </p:blipFill>
        <p:spPr>
          <a:xfrm>
            <a:off x="8229600" y="1828800"/>
            <a:ext cx="502920" cy="502920"/>
          </a:xfrm>
          <a:prstGeom prst="rect">
            <a:avLst/>
          </a:prstGeom>
        </p:spPr>
      </p:pic>
      <p:sp>
        <p:nvSpPr>
          <p:cNvPr id="14" name="Text 9"/>
          <p:cNvSpPr/>
          <p:nvPr/>
        </p:nvSpPr>
        <p:spPr>
          <a:xfrm>
            <a:off x="8229600" y="2468880"/>
            <a:ext cx="2834640" cy="36576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Validation</a:t>
            </a:r>
            <a:endParaRPr lang="en-US" sz="1500" dirty="0"/>
          </a:p>
        </p:txBody>
      </p:sp>
      <p:sp>
        <p:nvSpPr>
          <p:cNvPr id="15" name="Text 10"/>
          <p:cNvSpPr/>
          <p:nvPr/>
        </p:nvSpPr>
        <p:spPr>
          <a:xfrm>
            <a:off x="8229600" y="2880360"/>
            <a:ext cx="2834640" cy="1280160"/>
          </a:xfrm>
          <a:prstGeom prst="rect">
            <a:avLst/>
          </a:prstGeom>
          <a:noFill/>
        </p:spPr>
        <p:txBody>
          <a:bodyPr wrap="square" rtlCol="0" anchor="ctr"/>
          <a:lstStyle/>
          <a:p>
            <a:pPr marL="0" indent="0">
              <a:lnSpc>
                <a:spcPct val="130000"/>
              </a:lnSpc>
              <a:buNone/>
            </a:pPr>
            <a:r>
              <a:rPr lang="en-US" sz="1150" dirty="0">
                <a:solidFill>
                  <a:srgbClr val="C9BEE0"/>
                </a:solidFill>
                <a:latin typeface="Calibri" panose="020F0502020204030204" pitchFamily="34" charset="0"/>
                <a:ea typeface="Calibri" panose="020F0502020204030204" pitchFamily="34" charset="-122"/>
                <a:cs typeface="Calibri" panose="020F0502020204030204" pitchFamily="34" charset="-120"/>
              </a:rPr>
              <a:t>Test on external datasets to confirm generalization beyond GSE50161</a:t>
            </a:r>
            <a:endParaRPr lang="en-US" sz="1150" dirty="0"/>
          </a:p>
        </p:txBody>
      </p:sp>
      <p:sp>
        <p:nvSpPr>
          <p:cNvPr id="16" name="Text 11"/>
          <p:cNvSpPr/>
          <p:nvPr/>
        </p:nvSpPr>
        <p:spPr>
          <a:xfrm>
            <a:off x="640080" y="4754880"/>
            <a:ext cx="7315200" cy="640080"/>
          </a:xfrm>
          <a:prstGeom prst="rect">
            <a:avLst/>
          </a:prstGeom>
          <a:noFill/>
        </p:spPr>
        <p:txBody>
          <a:bodyPr wrap="square" rtlCol="0" anchor="ctr"/>
          <a:lstStyle/>
          <a:p>
            <a:pPr marL="0" indent="0">
              <a:buNone/>
            </a:pPr>
            <a:r>
              <a:rPr lang="en-US" sz="2600" b="1" dirty="0">
                <a:solidFill>
                  <a:srgbClr val="D98E2A"/>
                </a:solidFill>
                <a:latin typeface="Cambria" panose="02040503050406030204" pitchFamily="34" charset="0"/>
                <a:ea typeface="Cambria" panose="02040503050406030204" pitchFamily="34" charset="-122"/>
                <a:cs typeface="Cambria" panose="02040503050406030204" pitchFamily="34" charset="-120"/>
              </a:rPr>
              <a:t>Thank You</a:t>
            </a:r>
            <a:endParaRPr lang="en-US" sz="2600" dirty="0"/>
          </a:p>
        </p:txBody>
      </p:sp>
      <p:sp>
        <p:nvSpPr>
          <p:cNvPr id="17" name="Text 12"/>
          <p:cNvSpPr/>
          <p:nvPr/>
        </p:nvSpPr>
        <p:spPr>
          <a:xfrm>
            <a:off x="640080" y="5349240"/>
            <a:ext cx="7315200" cy="365760"/>
          </a:xfrm>
          <a:prstGeom prst="rect">
            <a:avLst/>
          </a:prstGeom>
          <a:noFill/>
        </p:spPr>
        <p:txBody>
          <a:bodyPr wrap="square" rtlCol="0" anchor="ctr"/>
          <a:lstStyle/>
          <a:p>
            <a:pPr marL="0" indent="0">
              <a:buNone/>
            </a:pPr>
            <a:r>
              <a:rPr lang="en-US" sz="1400" i="1" dirty="0">
                <a:solidFill>
                  <a:srgbClr val="C9BEE0"/>
                </a:solidFill>
                <a:latin typeface="Calibri" panose="020F0502020204030204" pitchFamily="34" charset="0"/>
                <a:ea typeface="Calibri" panose="020F0502020204030204" pitchFamily="34" charset="-122"/>
                <a:cs typeface="Calibri" panose="020F0502020204030204" pitchFamily="34" charset="-120"/>
              </a:rPr>
              <a:t>Questions &amp;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5857</Words>
  <Application>WPS Presentation</Application>
  <PresentationFormat>On-screen Show (16:9)</PresentationFormat>
  <Paragraphs>271</Paragraphs>
  <Slides>12</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Cancer Classification from Gene Expression</dc:title>
  <dc:creator>Student</dc:creator>
  <dc:subject>PptxGenJS Presentation</dc:subject>
  <cp:lastModifiedBy>shahrizoda nizomova</cp:lastModifiedBy>
  <cp:revision>8</cp:revision>
  <dcterms:created xsi:type="dcterms:W3CDTF">2026-06-19T03:41:00Z</dcterms:created>
  <dcterms:modified xsi:type="dcterms:W3CDTF">2026-06-22T14:13:10Z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114139BFCE214AB7A4D33844F6046809_12</vt:lpwstr>
  </property>
  <property fmtid="{D5CDD505-2E9C-101B-9397-08002B2CF9AE}" pid="3" name="KSOProductBuildVer">
    <vt:lpwstr>1033-12.1.0.26880</vt:lpwstr>
  </property>
</Properties>
</file>